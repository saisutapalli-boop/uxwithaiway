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Afy+ee4MfSUusDAuCUQQffY80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2" name="Google Shape;80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1A6A">
              <a:alpha val="34901"/>
            </a:srgbClr>
          </a:solidFill>
          <a:ln cap="flat" cmpd="sng" w="12700">
            <a:solidFill>
              <a:srgbClr val="2A1A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274320" y="1191925"/>
            <a:ext cx="4114800" cy="45600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498080" y="2560320"/>
            <a:ext cx="3200400" cy="3200400"/>
          </a:xfrm>
          <a:prstGeom prst="ellipse">
            <a:avLst/>
          </a:prstGeom>
          <a:solidFill>
            <a:srgbClr val="1A1A4A">
              <a:alpha val="70196"/>
            </a:srgbClr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046720" y="2926080"/>
            <a:ext cx="2011680" cy="2011680"/>
          </a:xfrm>
          <a:prstGeom prst="ellipse">
            <a:avLst/>
          </a:prstGeom>
          <a:solidFill>
            <a:srgbClr val="E4FF47">
              <a:alpha val="12156"/>
            </a:srgbClr>
          </a:solidFill>
          <a:ln cap="flat" cmpd="sng" w="12700">
            <a:solidFill>
              <a:srgbClr val="E4FF4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UX WITH THE AI WAY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868680"/>
            <a:ext cx="7772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AI-Augmented UX Practice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201168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2600"/>
              <a:buFont typeface="Trebuchet MS"/>
              <a:buNone/>
            </a:pPr>
            <a:r>
              <a:rPr b="0" i="0" lang="en-US" sz="26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Platform &amp; Knowledge Wiki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2651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Executive Proposal — MVP Strategy, Impact &amp; ROI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66"/>
                </a:solidFill>
                <a:latin typeface="Calibri"/>
                <a:ea typeface="Calibri"/>
                <a:cs typeface="Calibri"/>
                <a:sym typeface="Calibri"/>
              </a:rPr>
              <a:t>Prepared for Leadership Review  •  UXwiththeAIway Platform  •  Free Public Resource  •  Invite-Only Contributors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1A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1A6A">
              <a:alpha val="34901"/>
            </a:srgbClr>
          </a:solidFill>
          <a:ln cap="flat" cmpd="sng" w="12700">
            <a:solidFill>
              <a:srgbClr val="2A1A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57200" y="2743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EXECUTIVE SUMMARY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The Opportunity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UX designers at every level are adopting AI tools without a structured framework — leading to inconsistent quality, duplicated effort, and missed efficiency gains. UXwithAIway is the practitioner-first knowledge platform that closes this gap.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2057400"/>
            <a:ext cx="4023360" cy="114300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57200" y="2057400"/>
            <a:ext cx="64008" cy="1143000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85800" y="217627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◈  Free Public Platform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85800" y="2496312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Wiki + Strategy Builder for UX designers across all levels — junior to senior, product to service design.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800600" y="2057400"/>
            <a:ext cx="4023360" cy="114300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800600" y="2057400"/>
            <a:ext cx="64008" cy="1143000"/>
          </a:xfrm>
          <a:prstGeom prst="rect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5029200" y="217627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3DFFD0"/>
                </a:solidFill>
                <a:latin typeface="Trebuchet MS"/>
                <a:ea typeface="Trebuchet MS"/>
                <a:cs typeface="Trebuchet MS"/>
                <a:sym typeface="Trebuchet MS"/>
              </a:rPr>
              <a:t>◎  Practitioner-First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029200" y="2496312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Invite-only contributors. Opinionated, honest workflows — not vendor marketing or academic theory.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" y="3383280"/>
            <a:ext cx="4023360" cy="114300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57200" y="3383280"/>
            <a:ext cx="64008" cy="1143000"/>
          </a:xfrm>
          <a:prstGeom prst="rect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85800" y="350215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8C3D"/>
                </a:solidFill>
                <a:latin typeface="Trebuchet MS"/>
                <a:ea typeface="Trebuchet MS"/>
                <a:cs typeface="Trebuchet MS"/>
                <a:sym typeface="Trebuchet MS"/>
              </a:rPr>
              <a:t>▣  Immediate ROI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85800" y="3822192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AI-assisted workflows reduce research synthesis time by up to 70%, audit delivery by 60%, and prototyping cycles by 40%.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800600" y="3383280"/>
            <a:ext cx="4023360" cy="114300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800600" y="3383280"/>
            <a:ext cx="64008" cy="1143000"/>
          </a:xfrm>
          <a:prstGeom prst="rect">
            <a:avLst/>
          </a:prstGeom>
          <a:solidFill>
            <a:srgbClr val="FF3DA8"/>
          </a:solidFill>
          <a:ln cap="flat" cmpd="sng" w="12700">
            <a:solidFill>
              <a:srgbClr val="FF3D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5029200" y="350215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A8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3DA8"/>
                </a:solidFill>
                <a:latin typeface="Trebuchet MS"/>
                <a:ea typeface="Trebuchet MS"/>
                <a:cs typeface="Trebuchet MS"/>
                <a:sym typeface="Trebuchet MS"/>
              </a:rPr>
              <a:t>◍  Service Design Focus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029200" y="3822192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Built with consultant constraints in mind — client data safety, freemium-first tools, async methods.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1A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1A6A">
              <a:alpha val="34901"/>
            </a:srgbClr>
          </a:solidFill>
          <a:ln cap="flat" cmpd="sng" w="12700">
            <a:solidFill>
              <a:srgbClr val="2A1A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457200" y="2743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8C3D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 WE SOLVE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AI adoption in UX is fragmented, inconsistent &amp; risky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57200" y="1188720"/>
            <a:ext cx="8229600" cy="621792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457200" y="1188720"/>
            <a:ext cx="64008" cy="621792"/>
          </a:xfrm>
          <a:prstGeom prst="rect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40080" y="1298448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8C3D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115568" y="12801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No structured framework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115568" y="1508760"/>
            <a:ext cx="7223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Designers pick tools randomly. No workflow logic connecting research → ideation → testing.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57200" y="1920240"/>
            <a:ext cx="8229600" cy="621792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57200" y="1920240"/>
            <a:ext cx="64008" cy="621792"/>
          </a:xfrm>
          <a:prstGeom prst="rect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40080" y="2029968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8C3D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15568" y="20116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Tool overload without 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115568" y="2240280"/>
            <a:ext cx="7223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100+ AI tools launched in 2024 alone. No practitioner-curated guidance on what works for which project type.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2651760"/>
            <a:ext cx="8229600" cy="621792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57200" y="2651760"/>
            <a:ext cx="64008" cy="621792"/>
          </a:xfrm>
          <a:prstGeom prst="rect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40080" y="2761488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8C3D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115568" y="27432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Consultant constraints ignored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115568" y="2971800"/>
            <a:ext cx="7223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Most resources assume in-house product teams. Service design consultants face client data rules, procurement delays, and billing constraints that existing wikis don't address.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57200" y="3383280"/>
            <a:ext cx="8229600" cy="621792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457200" y="3383280"/>
            <a:ext cx="64008" cy="621792"/>
          </a:xfrm>
          <a:prstGeom prst="rect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40080" y="3493008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8C3D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115568" y="34747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Skill level gap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1115568" y="3703320"/>
            <a:ext cx="7223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Junior designers are overwhelmed. Senior designers lack strategic AI adoption frameworks for org-level rollout.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57200" y="4114800"/>
            <a:ext cx="8229600" cy="621792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457200" y="4114800"/>
            <a:ext cx="64008" cy="621792"/>
          </a:xfrm>
          <a:prstGeom prst="rect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640080" y="4224528"/>
            <a:ext cx="411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8C3D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115568" y="42062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Time &amp; money lost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115568" y="4434840"/>
            <a:ext cx="7223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Manual research synthesis, redundant competitive analysis, and late-stage design inconsistencies cost teams an estimated 30–40% of project time that AI tools can recover.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1A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1A6A">
              <a:alpha val="34901"/>
            </a:srgbClr>
          </a:solidFill>
          <a:ln cap="flat" cmpd="sng" w="12700">
            <a:solidFill>
              <a:srgbClr val="2A1A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57200" y="2743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PLATFORM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What we are building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291840" y="1051560"/>
            <a:ext cx="2560320" cy="1005840"/>
          </a:xfrm>
          <a:prstGeom prst="rect">
            <a:avLst/>
          </a:prstGeom>
          <a:solidFill>
            <a:srgbClr val="1E1E48"/>
          </a:solidFill>
          <a:ln cap="flat" cmpd="sng" w="254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3337560" y="11430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UXwithAIway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337560" y="148132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Wiki + Strategy Builder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+ Tool Directory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274320" y="2286000"/>
            <a:ext cx="1143000" cy="86868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274320" y="2286000"/>
            <a:ext cx="1143000" cy="54864"/>
          </a:xfrm>
          <a:prstGeom prst="rect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347472" y="239572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AI History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&amp; Foundations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508760" y="2286000"/>
            <a:ext cx="1143000" cy="86868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1508760" y="2286000"/>
            <a:ext cx="1143000" cy="54864"/>
          </a:xfrm>
          <a:prstGeom prst="rect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1581912" y="239572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Vision &amp;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Mission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2743200" y="2286000"/>
            <a:ext cx="1143000" cy="86868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2743200" y="2286000"/>
            <a:ext cx="1143000" cy="54864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2816352" y="239572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Builder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977640" y="2286000"/>
            <a:ext cx="1143000" cy="86868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3977640" y="2286000"/>
            <a:ext cx="1143000" cy="54864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4050792" y="239572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UX Strategy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&amp; Problem Solving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212080" y="2286000"/>
            <a:ext cx="1143000" cy="86868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5212080" y="2286000"/>
            <a:ext cx="1143000" cy="54864"/>
          </a:xfrm>
          <a:prstGeom prst="rect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285232" y="239572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Primary &amp;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Secondary Research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446520" y="2286000"/>
            <a:ext cx="1143000" cy="86868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6446520" y="2286000"/>
            <a:ext cx="1143000" cy="54864"/>
          </a:xfrm>
          <a:prstGeom prst="rect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6519672" y="239572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Ideation &amp;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Brainstorming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680960" y="2286000"/>
            <a:ext cx="1143000" cy="86868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680960" y="2286000"/>
            <a:ext cx="1143000" cy="54864"/>
          </a:xfrm>
          <a:prstGeom prst="rect">
            <a:avLst/>
          </a:prstGeom>
          <a:solidFill>
            <a:srgbClr val="FF3DA8"/>
          </a:solidFill>
          <a:ln cap="flat" cmpd="sng" w="12700">
            <a:solidFill>
              <a:srgbClr val="FF3D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7754112" y="239572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Design &amp;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Prototyping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274320" y="3337560"/>
            <a:ext cx="1143000" cy="868680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274320" y="3337560"/>
            <a:ext cx="1143000" cy="54864"/>
          </a:xfrm>
          <a:prstGeom prst="rect">
            <a:avLst/>
          </a:prstGeom>
          <a:solidFill>
            <a:srgbClr val="FF3DA8"/>
          </a:solidFill>
          <a:ln cap="flat" cmpd="sng" w="12700">
            <a:solidFill>
              <a:srgbClr val="FF3D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347472" y="344728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UX Testing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&amp; Usability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1508760" y="3337560"/>
            <a:ext cx="1143000" cy="868680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1508760" y="3337560"/>
            <a:ext cx="1143000" cy="54864"/>
          </a:xfrm>
          <a:prstGeom prst="rect">
            <a:avLst/>
          </a:prstGeom>
          <a:solidFill>
            <a:srgbClr val="FF3DA8"/>
          </a:solidFill>
          <a:ln cap="flat" cmpd="sng" w="12700">
            <a:solidFill>
              <a:srgbClr val="FF3D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1581912" y="344728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Heuristic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743200" y="3337560"/>
            <a:ext cx="1143000" cy="868680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2743200" y="3337560"/>
            <a:ext cx="1143000" cy="54864"/>
          </a:xfrm>
          <a:prstGeom prst="rect">
            <a:avLst/>
          </a:prstGeom>
          <a:solidFill>
            <a:srgbClr val="8888AA"/>
          </a:solidFill>
          <a:ln cap="flat" cmpd="sng" w="12700">
            <a:solidFill>
              <a:srgbClr val="888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2816352" y="344728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Tool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Directory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977640" y="3337560"/>
            <a:ext cx="1143000" cy="868680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3977640" y="3337560"/>
            <a:ext cx="1143000" cy="54864"/>
          </a:xfrm>
          <a:prstGeom prst="rect">
            <a:avLst/>
          </a:prstGeom>
          <a:solidFill>
            <a:srgbClr val="8888AA"/>
          </a:solidFill>
          <a:ln cap="flat" cmpd="sng" w="12700">
            <a:solidFill>
              <a:srgbClr val="888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4050792" y="344728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Skill-Level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Filtering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212080" y="3337560"/>
            <a:ext cx="1143000" cy="868680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5212080" y="3337560"/>
            <a:ext cx="1143000" cy="54864"/>
          </a:xfrm>
          <a:prstGeom prst="rect">
            <a:avLst/>
          </a:prstGeom>
          <a:solidFill>
            <a:srgbClr val="8888AA"/>
          </a:solidFill>
          <a:ln cap="flat" cmpd="sng" w="12700">
            <a:solidFill>
              <a:srgbClr val="888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5285232" y="344728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Contributor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446520" y="3337560"/>
            <a:ext cx="1143000" cy="868680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6446520" y="3337560"/>
            <a:ext cx="1143000" cy="54864"/>
          </a:xfrm>
          <a:prstGeom prst="rect">
            <a:avLst/>
          </a:prstGeom>
          <a:solidFill>
            <a:srgbClr val="8888AA"/>
          </a:solidFill>
          <a:ln cap="flat" cmpd="sng" w="12700">
            <a:solidFill>
              <a:srgbClr val="888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6519672" y="344728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Embeds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7680960" y="3337560"/>
            <a:ext cx="1143000" cy="868680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7680960" y="3337560"/>
            <a:ext cx="1143000" cy="54864"/>
          </a:xfrm>
          <a:prstGeom prst="rect">
            <a:avLst/>
          </a:prstGeom>
          <a:solidFill>
            <a:srgbClr val="8888AA"/>
          </a:solidFill>
          <a:ln cap="flat" cmpd="sng" w="12700">
            <a:solidFill>
              <a:srgbClr val="8888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7754112" y="344728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Download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Templates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182880" y="2135072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Core Platform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2651760" y="2135072"/>
            <a:ext cx="3200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4FF47"/>
                </a:solidFill>
                <a:latin typeface="Calibri"/>
                <a:ea typeface="Calibri"/>
                <a:cs typeface="Calibri"/>
                <a:sym typeface="Calibri"/>
              </a:rPr>
              <a:t>Content Buckets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182880" y="3172982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A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3DA8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1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1A6A">
              <a:alpha val="34901"/>
            </a:srgbClr>
          </a:solidFill>
          <a:ln cap="flat" cmpd="sng" w="12700">
            <a:solidFill>
              <a:srgbClr val="2A1A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457200" y="2743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3DFFD0"/>
                </a:solidFill>
                <a:latin typeface="Trebuchet MS"/>
                <a:ea typeface="Trebuchet MS"/>
                <a:cs typeface="Trebuchet MS"/>
                <a:sym typeface="Trebuchet MS"/>
              </a:rPr>
              <a:t>CONTENT BUCKETS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Eight wiki sections — every phase of the UX process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74320" y="1051560"/>
            <a:ext cx="2011680" cy="162763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274320" y="1051560"/>
            <a:ext cx="2011680" cy="54864"/>
          </a:xfrm>
          <a:prstGeom prst="rect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384048" y="116128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3DFFD0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384048" y="1399032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AI &amp; 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384048" y="1746504"/>
            <a:ext cx="181051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History, LLMs, GANs, pioneers — Turing, Hinton, Shannon, Goodfellow. The intellectual foundation for every designer.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2450592" y="1051560"/>
            <a:ext cx="2011680" cy="162763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2450592" y="1051560"/>
            <a:ext cx="2011680" cy="54864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2560320" y="116128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2560320" y="1399032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AI UX for Strategy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2560320" y="1746504"/>
            <a:ext cx="181051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Problem framing, stakeholder alignment, landscape research. Tools: Claude, Perplexity, Miro AI.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626864" y="1051560"/>
            <a:ext cx="2011680" cy="162763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4626864" y="1051560"/>
            <a:ext cx="2011680" cy="54864"/>
          </a:xfrm>
          <a:prstGeom prst="rect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4736592" y="116128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8C3D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736592" y="1399032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Primary Research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736592" y="1746504"/>
            <a:ext cx="181051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Ethnographic interviews, screeners, synthesis. Tools: Otter.ai, Dovetail, Notion AI, Tally.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6803136" y="1051560"/>
            <a:ext cx="2011680" cy="162763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6803136" y="1051560"/>
            <a:ext cx="2011680" cy="54864"/>
          </a:xfrm>
          <a:prstGeom prst="rect">
            <a:avLst/>
          </a:prstGeom>
          <a:solidFill>
            <a:srgbClr val="FF3DA8"/>
          </a:solidFill>
          <a:ln cap="flat" cmpd="sng" w="12700">
            <a:solidFill>
              <a:srgbClr val="FF3D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6912864" y="116128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A8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3DA8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912864" y="1399032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Secondary Research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912864" y="1746504"/>
            <a:ext cx="181051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Market, competitive, trends, academic. Tools: Perplexity, Elicit, Exploding Topics, SparkToro.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274320" y="2880360"/>
            <a:ext cx="2011680" cy="162763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274320" y="2880360"/>
            <a:ext cx="2011680" cy="54864"/>
          </a:xfrm>
          <a:prstGeom prst="rect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384048" y="299008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3DFFD0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384048" y="3227832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Ideation &amp; Brainstorming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384048" y="3575304"/>
            <a:ext cx="181051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AI as thinking partner. Prompt library. Workshop facilitation. Tools: Miro AI, FigJam AI, Claude.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2450592" y="2880360"/>
            <a:ext cx="2011680" cy="162763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2450592" y="2880360"/>
            <a:ext cx="2011680" cy="54864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2560320" y="299008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2560320" y="3227832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&amp; Prototyping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2560320" y="3575304"/>
            <a:ext cx="181051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Scale-calibrated: solo → enterprise (15+ Figma files, Claude Code, design system governance).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626864" y="2880360"/>
            <a:ext cx="2011680" cy="162763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4626864" y="2880360"/>
            <a:ext cx="2011680" cy="54864"/>
          </a:xfrm>
          <a:prstGeom prst="rect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4736592" y="299008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8C3D"/>
                </a:solidFill>
                <a:latin typeface="Trebuchet MS"/>
                <a:ea typeface="Trebuchet MS"/>
                <a:cs typeface="Trebuchet MS"/>
                <a:sym typeface="Trebuchet MS"/>
              </a:rPr>
              <a:t>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736592" y="3227832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Usability Testing &amp; A/B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736592" y="3575304"/>
            <a:ext cx="181051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Unmoderated testing, heatmaps, A/B hypotheses. Tools: Maze, Microsoft Clarity, Attention Insight.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6803136" y="2880360"/>
            <a:ext cx="2011680" cy="162763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6803136" y="2880360"/>
            <a:ext cx="2011680" cy="54864"/>
          </a:xfrm>
          <a:prstGeom prst="rect">
            <a:avLst/>
          </a:prstGeom>
          <a:solidFill>
            <a:srgbClr val="FF3DA8"/>
          </a:solidFill>
          <a:ln cap="flat" cmpd="sng" w="12700">
            <a:solidFill>
              <a:srgbClr val="FF3D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6912864" y="299008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A8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3DA8"/>
                </a:solidFill>
                <a:latin typeface="Trebuchet MS"/>
                <a:ea typeface="Trebuchet MS"/>
                <a:cs typeface="Trebuchet MS"/>
                <a:sym typeface="Trebuchet MS"/>
              </a:rPr>
              <a:t>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6912864" y="3227832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Heuristic Evaluation &amp; UX Audit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912864" y="3575304"/>
            <a:ext cx="181051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AI-accelerated audit for consultants. Billable deliverable. Tools: Claude, Screaming Frog, Notion AI.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1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1A6A">
              <a:alpha val="34901"/>
            </a:srgbClr>
          </a:solidFill>
          <a:ln cap="flat" cmpd="sng" w="12700">
            <a:solidFill>
              <a:srgbClr val="2A1A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457200" y="2743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CORE FEATURE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The Strategy Builder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 designer inputs their project parameters → receives a tailored AI workflow, tool stack, and constraint surface.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365760" y="1554480"/>
            <a:ext cx="1508760" cy="1371600"/>
          </a:xfrm>
          <a:prstGeom prst="rect">
            <a:avLst/>
          </a:prstGeom>
          <a:solidFill>
            <a:srgbClr val="16163A"/>
          </a:solidFill>
          <a:ln cap="flat" cmpd="sng" w="1905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365760" y="1554480"/>
            <a:ext cx="1508760" cy="64008"/>
          </a:xfrm>
          <a:prstGeom prst="rect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457200" y="1664208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3DFFD0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3DFFD0"/>
                </a:solidFill>
                <a:latin typeface="Trebuchet MS"/>
                <a:ea typeface="Trebuchet MS"/>
                <a:cs typeface="Trebuchet MS"/>
                <a:sym typeface="Trebuchet MS"/>
              </a:rPr>
              <a:t>Framing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457200" y="2084832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State the problem.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Who identified it?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1874520" y="2148840"/>
            <a:ext cx="210312" cy="27432"/>
          </a:xfrm>
          <a:prstGeom prst="rect">
            <a:avLst/>
          </a:prstGeom>
          <a:solidFill>
            <a:srgbClr val="444466"/>
          </a:solidFill>
          <a:ln cap="flat" cmpd="sng" w="12700">
            <a:solidFill>
              <a:srgbClr val="44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1847088" y="20116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6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446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2084832" y="1554480"/>
            <a:ext cx="1508760" cy="1371600"/>
          </a:xfrm>
          <a:prstGeom prst="rect">
            <a:avLst/>
          </a:prstGeom>
          <a:solidFill>
            <a:srgbClr val="16163A"/>
          </a:solidFill>
          <a:ln cap="flat" cmpd="sng" w="1905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2084832" y="1554480"/>
            <a:ext cx="1508760" cy="64008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2176272" y="1664208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Matrix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2176272" y="2084832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Type, Contract,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Timeline, Team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3593592" y="2148840"/>
            <a:ext cx="210312" cy="27432"/>
          </a:xfrm>
          <a:prstGeom prst="rect">
            <a:avLst/>
          </a:prstGeom>
          <a:solidFill>
            <a:srgbClr val="444466"/>
          </a:solidFill>
          <a:ln cap="flat" cmpd="sng" w="12700">
            <a:solidFill>
              <a:srgbClr val="44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3566160" y="20116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6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446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3803904" y="1554480"/>
            <a:ext cx="1508760" cy="1371600"/>
          </a:xfrm>
          <a:prstGeom prst="rect">
            <a:avLst/>
          </a:prstGeom>
          <a:solidFill>
            <a:srgbClr val="16163A"/>
          </a:solidFill>
          <a:ln cap="flat" cmpd="sng" w="1905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3803904" y="1554480"/>
            <a:ext cx="1508760" cy="64008"/>
          </a:xfrm>
          <a:prstGeom prst="rect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3895344" y="1664208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8C3D"/>
                </a:solidFill>
                <a:latin typeface="Trebuchet MS"/>
                <a:ea typeface="Trebuchet MS"/>
                <a:cs typeface="Trebuchet MS"/>
                <a:sym typeface="Trebuchet MS"/>
              </a:rPr>
              <a:t>Org 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3895344" y="2084832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Org type,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System maturity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312664" y="2148840"/>
            <a:ext cx="210312" cy="27432"/>
          </a:xfrm>
          <a:prstGeom prst="rect">
            <a:avLst/>
          </a:prstGeom>
          <a:solidFill>
            <a:srgbClr val="444466"/>
          </a:solidFill>
          <a:ln cap="flat" cmpd="sng" w="12700">
            <a:solidFill>
              <a:srgbClr val="44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5285232" y="20116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6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446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5522976" y="1554480"/>
            <a:ext cx="1508760" cy="1371600"/>
          </a:xfrm>
          <a:prstGeom prst="rect">
            <a:avLst/>
          </a:prstGeom>
          <a:solidFill>
            <a:srgbClr val="16163A"/>
          </a:solidFill>
          <a:ln cap="flat" cmpd="sng" w="19050">
            <a:solidFill>
              <a:srgbClr val="FF3DA8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5522976" y="1554480"/>
            <a:ext cx="1508760" cy="64008"/>
          </a:xfrm>
          <a:prstGeom prst="rect">
            <a:avLst/>
          </a:prstGeom>
          <a:solidFill>
            <a:srgbClr val="FF3DA8"/>
          </a:solidFill>
          <a:ln cap="flat" cmpd="sng" w="12700">
            <a:solidFill>
              <a:srgbClr val="FF3D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5614416" y="1664208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DA8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3DA8"/>
                </a:solidFill>
                <a:latin typeface="Trebuchet MS"/>
                <a:ea typeface="Trebuchet MS"/>
                <a:cs typeface="Trebuchet MS"/>
                <a:sym typeface="Trebuchet MS"/>
              </a:rPr>
              <a:t>Stage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DA8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3DA8"/>
                </a:solidFill>
                <a:latin typeface="Trebuchet MS"/>
                <a:ea typeface="Trebuchet MS"/>
                <a:cs typeface="Trebuchet MS"/>
                <a:sym typeface="Trebuchet MS"/>
              </a:rPr>
              <a:t>Selection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5614416" y="2084832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Recommend + override.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Custom process.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7031736" y="2148840"/>
            <a:ext cx="210312" cy="27432"/>
          </a:xfrm>
          <a:prstGeom prst="rect">
            <a:avLst/>
          </a:prstGeom>
          <a:solidFill>
            <a:srgbClr val="444466"/>
          </a:solidFill>
          <a:ln cap="flat" cmpd="sng" w="12700">
            <a:solidFill>
              <a:srgbClr val="4444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7004304" y="20116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6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446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7242048" y="1554480"/>
            <a:ext cx="1508760" cy="1371600"/>
          </a:xfrm>
          <a:prstGeom prst="rect">
            <a:avLst/>
          </a:prstGeom>
          <a:solidFill>
            <a:srgbClr val="16163A"/>
          </a:solidFill>
          <a:ln cap="flat" cmpd="sng" w="1905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7242048" y="1554480"/>
            <a:ext cx="1508760" cy="64008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7333488" y="1664208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7333488" y="2084832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Workflow + tools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+ constraints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457200" y="315468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Strategy Output includes: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365760" y="3520440"/>
            <a:ext cx="2606040" cy="594360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365760" y="3520440"/>
            <a:ext cx="54864" cy="594360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530352" y="356616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Recommended Workflow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530352" y="376732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Phase-by-phase process map with time estimates calibrated to timeline and team size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3182112" y="3520440"/>
            <a:ext cx="2606040" cy="594360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3182112" y="3520440"/>
            <a:ext cx="54864" cy="594360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3346704" y="356616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AI Tool Stack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3346704" y="376732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Named tools per phase — freemium flagged, client-safe flagged, consultant-approved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998464" y="3520440"/>
            <a:ext cx="2606040" cy="594360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5998464" y="3520440"/>
            <a:ext cx="54864" cy="594360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6163056" y="356616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Constraint Surface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6163056" y="376732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Plain-language risk and constraint flags specific to their project matrix combination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365760" y="4233672"/>
            <a:ext cx="2606040" cy="594360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365760" y="4233672"/>
            <a:ext cx="54864" cy="594360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530352" y="427939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Reading Path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530352" y="44805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Sequenced wiki articles matched to their selected stages and skill level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3182112" y="4233672"/>
            <a:ext cx="2606040" cy="594360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3182112" y="4233672"/>
            <a:ext cx="54864" cy="594360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3346704" y="427939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Downloadable Canvas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3346704" y="44805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Single-page strategy PDF/Figma template — the client kickoff artefact, ready to 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1A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1A6A">
              <a:alpha val="34901"/>
            </a:srgbClr>
          </a:solidFill>
          <a:ln cap="flat" cmpd="sng" w="12700">
            <a:solidFill>
              <a:srgbClr val="2A1A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457200" y="2743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8C3D"/>
                </a:solidFill>
                <a:latin typeface="Trebuchet MS"/>
                <a:ea typeface="Trebuchet MS"/>
                <a:cs typeface="Trebuchet MS"/>
                <a:sym typeface="Trebuchet MS"/>
              </a:rPr>
              <a:t>STRATEGY BUILDER — PROJECT MATRIX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457200" y="50292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Six dimensions drive every recommendation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365760" y="1097280"/>
            <a:ext cx="2606040" cy="169164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365760" y="1097280"/>
            <a:ext cx="2606040" cy="64008"/>
          </a:xfrm>
          <a:prstGeom prst="rect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502920" y="120700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3DFFD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502920" y="1554480"/>
            <a:ext cx="109728" cy="109728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685800" y="1517904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RFE — known product, bounded scope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502920" y="1911096"/>
            <a:ext cx="109728" cy="109728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685800" y="1874520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Initiative — greenfield, broad discovery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502920" y="2267712"/>
            <a:ext cx="109728" cy="109728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685800" y="223113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UX Audit — diagnostic, no design output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3182112" y="1097280"/>
            <a:ext cx="2606040" cy="169164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3182112" y="1097280"/>
            <a:ext cx="2606040" cy="64008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3319272" y="120700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Contract 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3319272" y="1554480"/>
            <a:ext cx="109728" cy="109728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3502152" y="1517904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Fixed Bid — lean methods, freemium-only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3319272" y="1911096"/>
            <a:ext cx="109728" cy="109728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3502152" y="1874520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Time &amp; Material — richer methods available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3319272" y="2267712"/>
            <a:ext cx="109728" cy="109728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3502152" y="223113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Retainer — sustainable AI practice-building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5998464" y="1097280"/>
            <a:ext cx="2606040" cy="169164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5998464" y="1097280"/>
            <a:ext cx="2606040" cy="64008"/>
          </a:xfrm>
          <a:prstGeom prst="rect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6135624" y="120700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8C3D"/>
                </a:solidFill>
                <a:latin typeface="Trebuchet MS"/>
                <a:ea typeface="Trebuchet MS"/>
                <a:cs typeface="Trebuchet MS"/>
                <a:sym typeface="Trebuchet MS"/>
              </a:rPr>
              <a:t>Timeline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6135624" y="1554480"/>
            <a:ext cx="109728" cy="109728"/>
          </a:xfrm>
          <a:prstGeom prst="ellipse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6318504" y="1517904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Sprint 1–2 weeks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6135624" y="1911096"/>
            <a:ext cx="109728" cy="109728"/>
          </a:xfrm>
          <a:prstGeom prst="ellipse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6318504" y="1874520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Short-term 1–3 months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6135624" y="2267712"/>
            <a:ext cx="109728" cy="109728"/>
          </a:xfrm>
          <a:prstGeom prst="ellipse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6318504" y="223113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Long-term 3 months+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365760" y="2971800"/>
            <a:ext cx="2606040" cy="169164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365760" y="2971800"/>
            <a:ext cx="2606040" cy="64008"/>
          </a:xfrm>
          <a:prstGeom prst="rect">
            <a:avLst/>
          </a:prstGeom>
          <a:solidFill>
            <a:srgbClr val="FF3DA8"/>
          </a:solidFill>
          <a:ln cap="flat" cmpd="sng" w="12700">
            <a:solidFill>
              <a:srgbClr val="FF3D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502920" y="308152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A8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3DA8"/>
                </a:solidFill>
                <a:latin typeface="Trebuchet MS"/>
                <a:ea typeface="Trebuchet MS"/>
                <a:cs typeface="Trebuchet MS"/>
                <a:sym typeface="Trebuchet MS"/>
              </a:rPr>
              <a:t>Team Size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502920" y="3429000"/>
            <a:ext cx="109728" cy="109728"/>
          </a:xfrm>
          <a:prstGeom prst="ellipse">
            <a:avLst/>
          </a:prstGeom>
          <a:solidFill>
            <a:srgbClr val="FF3DA8"/>
          </a:solidFill>
          <a:ln cap="flat" cmpd="sng" w="12700">
            <a:solidFill>
              <a:srgbClr val="FF3D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685800" y="3392424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Solo — AI multiplies individual output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502920" y="3785616"/>
            <a:ext cx="109728" cy="109728"/>
          </a:xfrm>
          <a:prstGeom prst="ellipse">
            <a:avLst/>
          </a:prstGeom>
          <a:solidFill>
            <a:srgbClr val="FF3DA8"/>
          </a:solidFill>
          <a:ln cap="flat" cmpd="sng" w="12700">
            <a:solidFill>
              <a:srgbClr val="FF3D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685800" y="3749040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Small 2–5 designers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502920" y="4142232"/>
            <a:ext cx="109728" cy="109728"/>
          </a:xfrm>
          <a:prstGeom prst="ellipse">
            <a:avLst/>
          </a:prstGeom>
          <a:solidFill>
            <a:srgbClr val="FF3DA8"/>
          </a:solidFill>
          <a:ln cap="flat" cmpd="sng" w="12700">
            <a:solidFill>
              <a:srgbClr val="FF3D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685800" y="410565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Mid 6–15 / Enterprise 15+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3182112" y="2971800"/>
            <a:ext cx="2606040" cy="169164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3182112" y="2971800"/>
            <a:ext cx="2606040" cy="64008"/>
          </a:xfrm>
          <a:prstGeom prst="rect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3319272" y="308152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3DFFD0"/>
                </a:solidFill>
                <a:latin typeface="Trebuchet MS"/>
                <a:ea typeface="Trebuchet MS"/>
                <a:cs typeface="Trebuchet MS"/>
                <a:sym typeface="Trebuchet MS"/>
              </a:rPr>
              <a:t>Organisation 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3319272" y="3429000"/>
            <a:ext cx="109728" cy="109728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3502152" y="3392424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In-house Product Team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3319272" y="3785616"/>
            <a:ext cx="109728" cy="109728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3502152" y="3749040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Service Design Consultancy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3319272" y="4142232"/>
            <a:ext cx="109728" cy="109728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3502152" y="410565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Agency / Freelance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5998464" y="2971800"/>
            <a:ext cx="2606040" cy="169164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5998464" y="2971800"/>
            <a:ext cx="2606040" cy="64008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7"/>
          <p:cNvSpPr/>
          <p:nvPr/>
        </p:nvSpPr>
        <p:spPr>
          <a:xfrm>
            <a:off x="6135624" y="308152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System Maturity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6135624" y="3429000"/>
            <a:ext cx="109728" cy="109728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6318504" y="3392424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None — start from scratch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6135624" y="3785616"/>
            <a:ext cx="109728" cy="109728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7"/>
          <p:cNvSpPr/>
          <p:nvPr/>
        </p:nvSpPr>
        <p:spPr>
          <a:xfrm>
            <a:off x="6318504" y="3749040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Partial / inconsistent — audit first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6135624" y="4142232"/>
            <a:ext cx="109728" cy="109728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6318504" y="410565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Established — AI-governed system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1A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8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1A6A">
              <a:alpha val="34901"/>
            </a:srgbClr>
          </a:solidFill>
          <a:ln cap="flat" cmpd="sng" w="12700">
            <a:solidFill>
              <a:srgbClr val="2A1A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457200" y="2743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3DFFD0"/>
                </a:solidFill>
                <a:latin typeface="Trebuchet MS"/>
                <a:ea typeface="Trebuchet MS"/>
                <a:cs typeface="Trebuchet MS"/>
                <a:sym typeface="Trebuchet MS"/>
              </a:rPr>
              <a:t>AI TOOL STACK — FREEMIUM FIRST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Every tool recommended has a free tier. No budget required to start.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256032" y="1078992"/>
            <a:ext cx="2011680" cy="10789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256032" y="1078992"/>
            <a:ext cx="54864" cy="1078992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402336" y="117043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Claude.ai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402336" y="1380744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4FF47"/>
                </a:solidFill>
                <a:latin typeface="Calibri"/>
                <a:ea typeface="Calibri"/>
                <a:cs typeface="Calibri"/>
                <a:sym typeface="Calibri"/>
              </a:rPr>
              <a:t>All Phases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402336" y="15544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Synthesis, brief writing, audit structuring, thinking partner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1673352" y="117043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2432304" y="1078992"/>
            <a:ext cx="2011680" cy="10789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2432304" y="1078992"/>
            <a:ext cx="54864" cy="1078992"/>
          </a:xfrm>
          <a:prstGeom prst="rect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2578608" y="117043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Perplexity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2578608" y="1380744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Strategy / Research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2578608" y="15544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Cited competitive &amp; market research — traceable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3849624" y="117043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4608576" y="1078992"/>
            <a:ext cx="2011680" cy="10789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4608576" y="1078992"/>
            <a:ext cx="54864" cy="1078992"/>
          </a:xfrm>
          <a:prstGeom prst="rect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4754880" y="117043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Otter.ai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4754880" y="1380744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8C3D"/>
                </a:solidFill>
                <a:latin typeface="Calibri"/>
                <a:ea typeface="Calibri"/>
                <a:cs typeface="Calibri"/>
                <a:sym typeface="Calibri"/>
              </a:rPr>
              <a:t>Primary Research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4754880" y="15544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Interview transcription. Free 300 min/month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6025896" y="117043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6784848" y="1078992"/>
            <a:ext cx="2011680" cy="10789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8"/>
          <p:cNvSpPr/>
          <p:nvPr/>
        </p:nvSpPr>
        <p:spPr>
          <a:xfrm>
            <a:off x="6784848" y="1078992"/>
            <a:ext cx="54864" cy="1078992"/>
          </a:xfrm>
          <a:prstGeom prst="rect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6931152" y="117043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Dovetail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6931152" y="1380744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8C3D"/>
                </a:solidFill>
                <a:latin typeface="Calibri"/>
                <a:ea typeface="Calibri"/>
                <a:cs typeface="Calibri"/>
                <a:sym typeface="Calibri"/>
              </a:rPr>
              <a:t>Primary Research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6931152" y="15544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AI pattern identification across interview transcripts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8202168" y="117043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256032" y="2313432"/>
            <a:ext cx="2011680" cy="10789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8"/>
          <p:cNvSpPr/>
          <p:nvPr/>
        </p:nvSpPr>
        <p:spPr>
          <a:xfrm>
            <a:off x="256032" y="2313432"/>
            <a:ext cx="54864" cy="1078992"/>
          </a:xfrm>
          <a:prstGeom prst="rect">
            <a:avLst/>
          </a:prstGeom>
          <a:solidFill>
            <a:srgbClr val="FF3DA8"/>
          </a:solidFill>
          <a:ln cap="flat" cmpd="sng" w="12700">
            <a:solidFill>
              <a:srgbClr val="FF3D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402336" y="240487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Miro 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402336" y="2615184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3DA8"/>
                </a:solidFill>
                <a:latin typeface="Calibri"/>
                <a:ea typeface="Calibri"/>
                <a:cs typeface="Calibri"/>
                <a:sym typeface="Calibri"/>
              </a:rPr>
              <a:t>Strategy / Ideation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402336" y="278892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Workshop facilitation, AI-assisted clustering post-brainstorm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1673352" y="240487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2432304" y="2313432"/>
            <a:ext cx="2011680" cy="10789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2432304" y="2313432"/>
            <a:ext cx="54864" cy="1078992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2578608" y="240487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Figma 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2578608" y="2615184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4FF47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2578608" y="278892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Component suggestions, inconsistency detection in design system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3849624" y="240487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4608576" y="2313432"/>
            <a:ext cx="2011680" cy="10789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4608576" y="2313432"/>
            <a:ext cx="54864" cy="1078992"/>
          </a:xfrm>
          <a:prstGeom prst="rect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8"/>
          <p:cNvSpPr/>
          <p:nvPr/>
        </p:nvSpPr>
        <p:spPr>
          <a:xfrm>
            <a:off x="4754880" y="240487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v0 by Vercel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4754880" y="2615184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Design (Solo)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4754880" y="278892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React component generation from text — zero design system needed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6025896" y="240487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6784848" y="2313432"/>
            <a:ext cx="2011680" cy="10789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6784848" y="2313432"/>
            <a:ext cx="54864" cy="1078992"/>
          </a:xfrm>
          <a:prstGeom prst="rect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6931152" y="240487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Microsoft Clarity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6931152" y="2615184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8C3D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6931152" y="278892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Free heatmaps + AI session summaries. No response limits.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8202168" y="240487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256032" y="3547872"/>
            <a:ext cx="2011680" cy="10789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8"/>
          <p:cNvSpPr/>
          <p:nvPr/>
        </p:nvSpPr>
        <p:spPr>
          <a:xfrm>
            <a:off x="256032" y="3547872"/>
            <a:ext cx="54864" cy="1078992"/>
          </a:xfrm>
          <a:prstGeom prst="rect">
            <a:avLst/>
          </a:prstGeom>
          <a:solidFill>
            <a:srgbClr val="FF3DA8"/>
          </a:solidFill>
          <a:ln cap="flat" cmpd="sng" w="12700">
            <a:solidFill>
              <a:srgbClr val="FF3D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8"/>
          <p:cNvSpPr/>
          <p:nvPr/>
        </p:nvSpPr>
        <p:spPr>
          <a:xfrm>
            <a:off x="402336" y="363931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Maze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402336" y="3849624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3DA8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402336" y="40233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Unmoderated testing with AI insight summaries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1673352" y="363931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2432304" y="3547872"/>
            <a:ext cx="2011680" cy="10789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8"/>
          <p:cNvSpPr/>
          <p:nvPr/>
        </p:nvSpPr>
        <p:spPr>
          <a:xfrm>
            <a:off x="2432304" y="3547872"/>
            <a:ext cx="54864" cy="1078992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8"/>
          <p:cNvSpPr/>
          <p:nvPr/>
        </p:nvSpPr>
        <p:spPr>
          <a:xfrm>
            <a:off x="2578608" y="363931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Screaming Frog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2578608" y="3849624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4FF47"/>
                </a:solidFill>
                <a:latin typeface="Calibri"/>
                <a:ea typeface="Calibri"/>
                <a:cs typeface="Calibri"/>
                <a:sym typeface="Calibri"/>
              </a:rPr>
              <a:t>Audit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2578608" y="40233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Technical UX audit — free under 500 URLs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3849624" y="363931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4608576" y="3547872"/>
            <a:ext cx="2011680" cy="10789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8"/>
          <p:cNvSpPr/>
          <p:nvPr/>
        </p:nvSpPr>
        <p:spPr>
          <a:xfrm>
            <a:off x="4608576" y="3547872"/>
            <a:ext cx="54864" cy="1078992"/>
          </a:xfrm>
          <a:prstGeom prst="rect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8"/>
          <p:cNvSpPr/>
          <p:nvPr/>
        </p:nvSpPr>
        <p:spPr>
          <a:xfrm>
            <a:off x="4754880" y="363931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Elicit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4754880" y="3849624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Secondary Research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4754880" y="40233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Academic literature synthesis for evidence-based design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6025896" y="363931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6784848" y="3547872"/>
            <a:ext cx="2011680" cy="10789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8"/>
          <p:cNvSpPr/>
          <p:nvPr/>
        </p:nvSpPr>
        <p:spPr>
          <a:xfrm>
            <a:off x="6784848" y="3547872"/>
            <a:ext cx="54864" cy="1078992"/>
          </a:xfrm>
          <a:prstGeom prst="rect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8"/>
          <p:cNvSpPr/>
          <p:nvPr/>
        </p:nvSpPr>
        <p:spPr>
          <a:xfrm>
            <a:off x="6931152" y="363931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Claude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8"/>
          <p:cNvSpPr/>
          <p:nvPr/>
        </p:nvSpPr>
        <p:spPr>
          <a:xfrm>
            <a:off x="6931152" y="3849624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8C3D"/>
                </a:solidFill>
                <a:latin typeface="Calibri"/>
                <a:ea typeface="Calibri"/>
                <a:cs typeface="Calibri"/>
                <a:sym typeface="Calibri"/>
              </a:rPr>
              <a:t>Enterprise Design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6931152" y="40233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Audit design tokens across 15+ Figma files at scale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8"/>
          <p:cNvSpPr/>
          <p:nvPr/>
        </p:nvSpPr>
        <p:spPr>
          <a:xfrm>
            <a:off x="8202168" y="363931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8C3D"/>
                </a:solidFill>
                <a:latin typeface="Calibri"/>
                <a:ea typeface="Calibri"/>
                <a:cs typeface="Calibri"/>
                <a:sym typeface="Calibri"/>
              </a:rPr>
              <a:t>PAID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1A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9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1A6A">
              <a:alpha val="34901"/>
            </a:srgbClr>
          </a:solidFill>
          <a:ln cap="flat" cmpd="sng" w="12700">
            <a:solidFill>
              <a:srgbClr val="2A1A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9"/>
          <p:cNvSpPr/>
          <p:nvPr/>
        </p:nvSpPr>
        <p:spPr>
          <a:xfrm>
            <a:off x="457200" y="2743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IMPACT &amp; TIME REDUCTION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457200" y="50292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AI-assisted UX — measurable time savings per phase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320040" y="1078992"/>
            <a:ext cx="1920240" cy="137160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9"/>
          <p:cNvSpPr/>
          <p:nvPr/>
        </p:nvSpPr>
        <p:spPr>
          <a:xfrm>
            <a:off x="484632" y="1207008"/>
            <a:ext cx="16642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3DFFD0"/>
                </a:solidFill>
                <a:latin typeface="Trebuchet MS"/>
                <a:ea typeface="Trebuchet MS"/>
                <a:cs typeface="Trebuchet MS"/>
                <a:sym typeface="Trebuchet MS"/>
              </a:rPr>
              <a:t>70%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484632" y="1874520"/>
            <a:ext cx="1664208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Reduction in research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synthesis 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2441448" y="1078992"/>
            <a:ext cx="1920240" cy="137160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2606040" y="1207008"/>
            <a:ext cx="16642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60%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2606040" y="1874520"/>
            <a:ext cx="1664208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Faster UX audit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delivery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4562856" y="1078992"/>
            <a:ext cx="1920240" cy="137160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9"/>
          <p:cNvSpPr/>
          <p:nvPr/>
        </p:nvSpPr>
        <p:spPr>
          <a:xfrm>
            <a:off x="4727448" y="1207008"/>
            <a:ext cx="16642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8C3D"/>
                </a:solidFill>
                <a:latin typeface="Trebuchet MS"/>
                <a:ea typeface="Trebuchet MS"/>
                <a:cs typeface="Trebuchet MS"/>
                <a:sym typeface="Trebuchet MS"/>
              </a:rPr>
              <a:t>40%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4727448" y="1874520"/>
            <a:ext cx="1664208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Fewer prototyping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iteration cycles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6684264" y="1078992"/>
            <a:ext cx="1920240" cy="137160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9"/>
          <p:cNvSpPr/>
          <p:nvPr/>
        </p:nvSpPr>
        <p:spPr>
          <a:xfrm>
            <a:off x="6848856" y="1207008"/>
            <a:ext cx="166420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DA8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3DA8"/>
                </a:solidFill>
                <a:latin typeface="Trebuchet MS"/>
                <a:ea typeface="Trebuchet MS"/>
                <a:cs typeface="Trebuchet MS"/>
                <a:sym typeface="Trebuchet MS"/>
              </a:rPr>
              <a:t>3×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6848856" y="1874520"/>
            <a:ext cx="1664208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Individual designer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output multiplier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320040" y="2633472"/>
            <a:ext cx="2194560" cy="274320"/>
          </a:xfrm>
          <a:prstGeom prst="rect">
            <a:avLst/>
          </a:prstGeom>
          <a:solidFill>
            <a:srgbClr val="1E1E48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9"/>
          <p:cNvSpPr/>
          <p:nvPr/>
        </p:nvSpPr>
        <p:spPr>
          <a:xfrm>
            <a:off x="411480" y="2679192"/>
            <a:ext cx="2057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UX Phase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2514600" y="2633472"/>
            <a:ext cx="1371600" cy="274320"/>
          </a:xfrm>
          <a:prstGeom prst="rect">
            <a:avLst/>
          </a:prstGeom>
          <a:solidFill>
            <a:srgbClr val="1E1E48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9"/>
          <p:cNvSpPr/>
          <p:nvPr/>
        </p:nvSpPr>
        <p:spPr>
          <a:xfrm>
            <a:off x="2606040" y="2679192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Manual 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3886200" y="2633472"/>
            <a:ext cx="1554480" cy="274320"/>
          </a:xfrm>
          <a:prstGeom prst="rect">
            <a:avLst/>
          </a:prstGeom>
          <a:solidFill>
            <a:srgbClr val="1E1E48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9"/>
          <p:cNvSpPr/>
          <p:nvPr/>
        </p:nvSpPr>
        <p:spPr>
          <a:xfrm>
            <a:off x="3977640" y="2679192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AI-Assisted 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5440680" y="2633472"/>
            <a:ext cx="1097280" cy="274320"/>
          </a:xfrm>
          <a:prstGeom prst="rect">
            <a:avLst/>
          </a:prstGeom>
          <a:solidFill>
            <a:srgbClr val="1E1E48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9"/>
          <p:cNvSpPr/>
          <p:nvPr/>
        </p:nvSpPr>
        <p:spPr>
          <a:xfrm>
            <a:off x="5532120" y="2679192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Time Saved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6537960" y="2633472"/>
            <a:ext cx="1783080" cy="274320"/>
          </a:xfrm>
          <a:prstGeom prst="rect">
            <a:avLst/>
          </a:prstGeom>
          <a:solidFill>
            <a:srgbClr val="1E1E48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9"/>
          <p:cNvSpPr/>
          <p:nvPr/>
        </p:nvSpPr>
        <p:spPr>
          <a:xfrm>
            <a:off x="6629400" y="2679192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Key Tool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320040" y="2907792"/>
            <a:ext cx="2194560" cy="246888"/>
          </a:xfrm>
          <a:prstGeom prst="rect">
            <a:avLst/>
          </a:prstGeom>
          <a:solidFill>
            <a:srgbClr val="16163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9"/>
          <p:cNvSpPr/>
          <p:nvPr/>
        </p:nvSpPr>
        <p:spPr>
          <a:xfrm>
            <a:off x="411480" y="2944368"/>
            <a:ext cx="2057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Competitive research brief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2514600" y="2907792"/>
            <a:ext cx="1371600" cy="246888"/>
          </a:xfrm>
          <a:prstGeom prst="rect">
            <a:avLst/>
          </a:prstGeom>
          <a:solidFill>
            <a:srgbClr val="16163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9"/>
          <p:cNvSpPr/>
          <p:nvPr/>
        </p:nvSpPr>
        <p:spPr>
          <a:xfrm>
            <a:off x="2606040" y="2944368"/>
            <a:ext cx="12344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4–6 hours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3886200" y="2907792"/>
            <a:ext cx="1554480" cy="246888"/>
          </a:xfrm>
          <a:prstGeom prst="rect">
            <a:avLst/>
          </a:prstGeom>
          <a:solidFill>
            <a:srgbClr val="16163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9"/>
          <p:cNvSpPr/>
          <p:nvPr/>
        </p:nvSpPr>
        <p:spPr>
          <a:xfrm>
            <a:off x="3977640" y="2944368"/>
            <a:ext cx="1417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45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5440680" y="2907792"/>
            <a:ext cx="1097280" cy="246888"/>
          </a:xfrm>
          <a:prstGeom prst="rect">
            <a:avLst/>
          </a:prstGeom>
          <a:solidFill>
            <a:srgbClr val="16163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9"/>
          <p:cNvSpPr/>
          <p:nvPr/>
        </p:nvSpPr>
        <p:spPr>
          <a:xfrm>
            <a:off x="5532120" y="2944368"/>
            <a:ext cx="9601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~80%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9"/>
          <p:cNvSpPr/>
          <p:nvPr/>
        </p:nvSpPr>
        <p:spPr>
          <a:xfrm>
            <a:off x="6537960" y="2907792"/>
            <a:ext cx="1783080" cy="246888"/>
          </a:xfrm>
          <a:prstGeom prst="rect">
            <a:avLst/>
          </a:prstGeom>
          <a:solidFill>
            <a:srgbClr val="16163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9"/>
          <p:cNvSpPr/>
          <p:nvPr/>
        </p:nvSpPr>
        <p:spPr>
          <a:xfrm>
            <a:off x="6629400" y="2944368"/>
            <a:ext cx="16459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Perplexity + Claude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320040" y="3154680"/>
            <a:ext cx="2194560" cy="246888"/>
          </a:xfrm>
          <a:prstGeom prst="rect">
            <a:avLst/>
          </a:prstGeom>
          <a:solidFill>
            <a:srgbClr val="11112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9"/>
          <p:cNvSpPr/>
          <p:nvPr/>
        </p:nvSpPr>
        <p:spPr>
          <a:xfrm>
            <a:off x="411480" y="3191256"/>
            <a:ext cx="2057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Interview guide (5 sessions)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2514600" y="3154680"/>
            <a:ext cx="1371600" cy="246888"/>
          </a:xfrm>
          <a:prstGeom prst="rect">
            <a:avLst/>
          </a:prstGeom>
          <a:solidFill>
            <a:srgbClr val="11112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2606040" y="3191256"/>
            <a:ext cx="12344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3 hours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3886200" y="3154680"/>
            <a:ext cx="1554480" cy="246888"/>
          </a:xfrm>
          <a:prstGeom prst="rect">
            <a:avLst/>
          </a:prstGeom>
          <a:solidFill>
            <a:srgbClr val="11112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9"/>
          <p:cNvSpPr/>
          <p:nvPr/>
        </p:nvSpPr>
        <p:spPr>
          <a:xfrm>
            <a:off x="3977640" y="3191256"/>
            <a:ext cx="1417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40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9"/>
          <p:cNvSpPr/>
          <p:nvPr/>
        </p:nvSpPr>
        <p:spPr>
          <a:xfrm>
            <a:off x="5440680" y="3154680"/>
            <a:ext cx="1097280" cy="246888"/>
          </a:xfrm>
          <a:prstGeom prst="rect">
            <a:avLst/>
          </a:prstGeom>
          <a:solidFill>
            <a:srgbClr val="11112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9"/>
          <p:cNvSpPr/>
          <p:nvPr/>
        </p:nvSpPr>
        <p:spPr>
          <a:xfrm>
            <a:off x="5532120" y="3191256"/>
            <a:ext cx="9601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~78%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9"/>
          <p:cNvSpPr/>
          <p:nvPr/>
        </p:nvSpPr>
        <p:spPr>
          <a:xfrm>
            <a:off x="6537960" y="3154680"/>
            <a:ext cx="1783080" cy="246888"/>
          </a:xfrm>
          <a:prstGeom prst="rect">
            <a:avLst/>
          </a:prstGeom>
          <a:solidFill>
            <a:srgbClr val="11112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9"/>
          <p:cNvSpPr/>
          <p:nvPr/>
        </p:nvSpPr>
        <p:spPr>
          <a:xfrm>
            <a:off x="6629400" y="3191256"/>
            <a:ext cx="16459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Claude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9"/>
          <p:cNvSpPr/>
          <p:nvPr/>
        </p:nvSpPr>
        <p:spPr>
          <a:xfrm>
            <a:off x="320040" y="3401568"/>
            <a:ext cx="2194560" cy="246888"/>
          </a:xfrm>
          <a:prstGeom prst="rect">
            <a:avLst/>
          </a:prstGeom>
          <a:solidFill>
            <a:srgbClr val="16163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9"/>
          <p:cNvSpPr/>
          <p:nvPr/>
        </p:nvSpPr>
        <p:spPr>
          <a:xfrm>
            <a:off x="411480" y="3438144"/>
            <a:ext cx="2057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Transcript synthesis (5 interviews)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9"/>
          <p:cNvSpPr/>
          <p:nvPr/>
        </p:nvSpPr>
        <p:spPr>
          <a:xfrm>
            <a:off x="2514600" y="3401568"/>
            <a:ext cx="1371600" cy="246888"/>
          </a:xfrm>
          <a:prstGeom prst="rect">
            <a:avLst/>
          </a:prstGeom>
          <a:solidFill>
            <a:srgbClr val="16163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9"/>
          <p:cNvSpPr/>
          <p:nvPr/>
        </p:nvSpPr>
        <p:spPr>
          <a:xfrm>
            <a:off x="2606040" y="3438144"/>
            <a:ext cx="12344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8–10 hours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9"/>
          <p:cNvSpPr/>
          <p:nvPr/>
        </p:nvSpPr>
        <p:spPr>
          <a:xfrm>
            <a:off x="3886200" y="3401568"/>
            <a:ext cx="1554480" cy="246888"/>
          </a:xfrm>
          <a:prstGeom prst="rect">
            <a:avLst/>
          </a:prstGeom>
          <a:solidFill>
            <a:srgbClr val="16163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9"/>
          <p:cNvSpPr/>
          <p:nvPr/>
        </p:nvSpPr>
        <p:spPr>
          <a:xfrm>
            <a:off x="3977640" y="3438144"/>
            <a:ext cx="1417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2–3 hours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9"/>
          <p:cNvSpPr/>
          <p:nvPr/>
        </p:nvSpPr>
        <p:spPr>
          <a:xfrm>
            <a:off x="5440680" y="3401568"/>
            <a:ext cx="1097280" cy="246888"/>
          </a:xfrm>
          <a:prstGeom prst="rect">
            <a:avLst/>
          </a:prstGeom>
          <a:solidFill>
            <a:srgbClr val="16163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9"/>
          <p:cNvSpPr/>
          <p:nvPr/>
        </p:nvSpPr>
        <p:spPr>
          <a:xfrm>
            <a:off x="5532120" y="3438144"/>
            <a:ext cx="9601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~70%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9"/>
          <p:cNvSpPr/>
          <p:nvPr/>
        </p:nvSpPr>
        <p:spPr>
          <a:xfrm>
            <a:off x="6537960" y="3401568"/>
            <a:ext cx="1783080" cy="246888"/>
          </a:xfrm>
          <a:prstGeom prst="rect">
            <a:avLst/>
          </a:prstGeom>
          <a:solidFill>
            <a:srgbClr val="16163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9"/>
          <p:cNvSpPr/>
          <p:nvPr/>
        </p:nvSpPr>
        <p:spPr>
          <a:xfrm>
            <a:off x="6629400" y="3438144"/>
            <a:ext cx="16459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Dovetail AI + Otter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9"/>
          <p:cNvSpPr/>
          <p:nvPr/>
        </p:nvSpPr>
        <p:spPr>
          <a:xfrm>
            <a:off x="320040" y="3648456"/>
            <a:ext cx="2194560" cy="246888"/>
          </a:xfrm>
          <a:prstGeom prst="rect">
            <a:avLst/>
          </a:prstGeom>
          <a:solidFill>
            <a:srgbClr val="11112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9"/>
          <p:cNvSpPr/>
          <p:nvPr/>
        </p:nvSpPr>
        <p:spPr>
          <a:xfrm>
            <a:off x="411480" y="3685032"/>
            <a:ext cx="2057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UX audit (heuristic eval)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9"/>
          <p:cNvSpPr/>
          <p:nvPr/>
        </p:nvSpPr>
        <p:spPr>
          <a:xfrm>
            <a:off x="2514600" y="3648456"/>
            <a:ext cx="1371600" cy="246888"/>
          </a:xfrm>
          <a:prstGeom prst="rect">
            <a:avLst/>
          </a:prstGeom>
          <a:solidFill>
            <a:srgbClr val="11112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9"/>
          <p:cNvSpPr/>
          <p:nvPr/>
        </p:nvSpPr>
        <p:spPr>
          <a:xfrm>
            <a:off x="2606040" y="3685032"/>
            <a:ext cx="12344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2–3 days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9"/>
          <p:cNvSpPr/>
          <p:nvPr/>
        </p:nvSpPr>
        <p:spPr>
          <a:xfrm>
            <a:off x="3886200" y="3648456"/>
            <a:ext cx="1554480" cy="246888"/>
          </a:xfrm>
          <a:prstGeom prst="rect">
            <a:avLst/>
          </a:prstGeom>
          <a:solidFill>
            <a:srgbClr val="11112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9"/>
          <p:cNvSpPr/>
          <p:nvPr/>
        </p:nvSpPr>
        <p:spPr>
          <a:xfrm>
            <a:off x="3977640" y="3685032"/>
            <a:ext cx="1417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4–6 hours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9"/>
          <p:cNvSpPr/>
          <p:nvPr/>
        </p:nvSpPr>
        <p:spPr>
          <a:xfrm>
            <a:off x="5440680" y="3648456"/>
            <a:ext cx="1097280" cy="246888"/>
          </a:xfrm>
          <a:prstGeom prst="rect">
            <a:avLst/>
          </a:prstGeom>
          <a:solidFill>
            <a:srgbClr val="11112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9"/>
          <p:cNvSpPr/>
          <p:nvPr/>
        </p:nvSpPr>
        <p:spPr>
          <a:xfrm>
            <a:off x="5532120" y="3685032"/>
            <a:ext cx="9601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~65%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9"/>
          <p:cNvSpPr/>
          <p:nvPr/>
        </p:nvSpPr>
        <p:spPr>
          <a:xfrm>
            <a:off x="6537960" y="3648456"/>
            <a:ext cx="1783080" cy="246888"/>
          </a:xfrm>
          <a:prstGeom prst="rect">
            <a:avLst/>
          </a:prstGeom>
          <a:solidFill>
            <a:srgbClr val="11112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>
            <a:off x="6629400" y="3685032"/>
            <a:ext cx="16459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Claude + Screaming Frog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9"/>
          <p:cNvSpPr/>
          <p:nvPr/>
        </p:nvSpPr>
        <p:spPr>
          <a:xfrm>
            <a:off x="320040" y="3895344"/>
            <a:ext cx="2194560" cy="246888"/>
          </a:xfrm>
          <a:prstGeom prst="rect">
            <a:avLst/>
          </a:prstGeom>
          <a:solidFill>
            <a:srgbClr val="16163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>
            <a:off x="411480" y="3931920"/>
            <a:ext cx="2057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Lo-fi wireframes (10 screens)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9"/>
          <p:cNvSpPr/>
          <p:nvPr/>
        </p:nvSpPr>
        <p:spPr>
          <a:xfrm>
            <a:off x="2514600" y="3895344"/>
            <a:ext cx="1371600" cy="246888"/>
          </a:xfrm>
          <a:prstGeom prst="rect">
            <a:avLst/>
          </a:prstGeom>
          <a:solidFill>
            <a:srgbClr val="16163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>
            <a:off x="2606040" y="3931920"/>
            <a:ext cx="12344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1–2 days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9"/>
          <p:cNvSpPr/>
          <p:nvPr/>
        </p:nvSpPr>
        <p:spPr>
          <a:xfrm>
            <a:off x="3886200" y="3895344"/>
            <a:ext cx="1554480" cy="246888"/>
          </a:xfrm>
          <a:prstGeom prst="rect">
            <a:avLst/>
          </a:prstGeom>
          <a:solidFill>
            <a:srgbClr val="16163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9"/>
          <p:cNvSpPr/>
          <p:nvPr/>
        </p:nvSpPr>
        <p:spPr>
          <a:xfrm>
            <a:off x="3977640" y="3931920"/>
            <a:ext cx="1417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4–6 hours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9"/>
          <p:cNvSpPr/>
          <p:nvPr/>
        </p:nvSpPr>
        <p:spPr>
          <a:xfrm>
            <a:off x="5440680" y="3895344"/>
            <a:ext cx="1097280" cy="246888"/>
          </a:xfrm>
          <a:prstGeom prst="rect">
            <a:avLst/>
          </a:prstGeom>
          <a:solidFill>
            <a:srgbClr val="16163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9"/>
          <p:cNvSpPr/>
          <p:nvPr/>
        </p:nvSpPr>
        <p:spPr>
          <a:xfrm>
            <a:off x="5532120" y="3931920"/>
            <a:ext cx="9601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~55%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9"/>
          <p:cNvSpPr/>
          <p:nvPr/>
        </p:nvSpPr>
        <p:spPr>
          <a:xfrm>
            <a:off x="6537960" y="3895344"/>
            <a:ext cx="1783080" cy="246888"/>
          </a:xfrm>
          <a:prstGeom prst="rect">
            <a:avLst/>
          </a:prstGeom>
          <a:solidFill>
            <a:srgbClr val="16163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9"/>
          <p:cNvSpPr/>
          <p:nvPr/>
        </p:nvSpPr>
        <p:spPr>
          <a:xfrm>
            <a:off x="6629400" y="3931920"/>
            <a:ext cx="16459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v0 / Relume / Figma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9"/>
          <p:cNvSpPr/>
          <p:nvPr/>
        </p:nvSpPr>
        <p:spPr>
          <a:xfrm>
            <a:off x="320040" y="4142232"/>
            <a:ext cx="2194560" cy="246888"/>
          </a:xfrm>
          <a:prstGeom prst="rect">
            <a:avLst/>
          </a:prstGeom>
          <a:solidFill>
            <a:srgbClr val="11112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9"/>
          <p:cNvSpPr/>
          <p:nvPr/>
        </p:nvSpPr>
        <p:spPr>
          <a:xfrm>
            <a:off x="411480" y="4178808"/>
            <a:ext cx="2057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Usability test plan + script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9"/>
          <p:cNvSpPr/>
          <p:nvPr/>
        </p:nvSpPr>
        <p:spPr>
          <a:xfrm>
            <a:off x="2514600" y="4142232"/>
            <a:ext cx="1371600" cy="246888"/>
          </a:xfrm>
          <a:prstGeom prst="rect">
            <a:avLst/>
          </a:prstGeom>
          <a:solidFill>
            <a:srgbClr val="11112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9"/>
          <p:cNvSpPr/>
          <p:nvPr/>
        </p:nvSpPr>
        <p:spPr>
          <a:xfrm>
            <a:off x="2606040" y="4178808"/>
            <a:ext cx="12344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4 hours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9"/>
          <p:cNvSpPr/>
          <p:nvPr/>
        </p:nvSpPr>
        <p:spPr>
          <a:xfrm>
            <a:off x="3886200" y="4142232"/>
            <a:ext cx="1554480" cy="246888"/>
          </a:xfrm>
          <a:prstGeom prst="rect">
            <a:avLst/>
          </a:prstGeom>
          <a:solidFill>
            <a:srgbClr val="11112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9"/>
          <p:cNvSpPr/>
          <p:nvPr/>
        </p:nvSpPr>
        <p:spPr>
          <a:xfrm>
            <a:off x="3977640" y="4178808"/>
            <a:ext cx="1417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1 hour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9"/>
          <p:cNvSpPr/>
          <p:nvPr/>
        </p:nvSpPr>
        <p:spPr>
          <a:xfrm>
            <a:off x="5440680" y="4142232"/>
            <a:ext cx="1097280" cy="246888"/>
          </a:xfrm>
          <a:prstGeom prst="rect">
            <a:avLst/>
          </a:prstGeom>
          <a:solidFill>
            <a:srgbClr val="11112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9"/>
          <p:cNvSpPr/>
          <p:nvPr/>
        </p:nvSpPr>
        <p:spPr>
          <a:xfrm>
            <a:off x="5532120" y="4178808"/>
            <a:ext cx="9601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~75%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9"/>
          <p:cNvSpPr/>
          <p:nvPr/>
        </p:nvSpPr>
        <p:spPr>
          <a:xfrm>
            <a:off x="6537960" y="4142232"/>
            <a:ext cx="1783080" cy="246888"/>
          </a:xfrm>
          <a:prstGeom prst="rect">
            <a:avLst/>
          </a:prstGeom>
          <a:solidFill>
            <a:srgbClr val="11112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9"/>
          <p:cNvSpPr/>
          <p:nvPr/>
        </p:nvSpPr>
        <p:spPr>
          <a:xfrm>
            <a:off x="6629400" y="4178808"/>
            <a:ext cx="16459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Claude + Maze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9"/>
          <p:cNvSpPr/>
          <p:nvPr/>
        </p:nvSpPr>
        <p:spPr>
          <a:xfrm>
            <a:off x="320040" y="4389120"/>
            <a:ext cx="2194560" cy="246888"/>
          </a:xfrm>
          <a:prstGeom prst="rect">
            <a:avLst/>
          </a:prstGeom>
          <a:solidFill>
            <a:srgbClr val="16163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9"/>
          <p:cNvSpPr/>
          <p:nvPr/>
        </p:nvSpPr>
        <p:spPr>
          <a:xfrm>
            <a:off x="411480" y="4425696"/>
            <a:ext cx="2057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4F4F4"/>
                </a:solidFill>
                <a:latin typeface="Calibri"/>
                <a:ea typeface="Calibri"/>
                <a:cs typeface="Calibri"/>
                <a:sym typeface="Calibri"/>
              </a:rPr>
              <a:t>A/B hypothesis brief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9"/>
          <p:cNvSpPr/>
          <p:nvPr/>
        </p:nvSpPr>
        <p:spPr>
          <a:xfrm>
            <a:off x="2514600" y="4389120"/>
            <a:ext cx="1371600" cy="246888"/>
          </a:xfrm>
          <a:prstGeom prst="rect">
            <a:avLst/>
          </a:prstGeom>
          <a:solidFill>
            <a:srgbClr val="16163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9"/>
          <p:cNvSpPr/>
          <p:nvPr/>
        </p:nvSpPr>
        <p:spPr>
          <a:xfrm>
            <a:off x="2606040" y="4425696"/>
            <a:ext cx="12344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2–3 hours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9"/>
          <p:cNvSpPr/>
          <p:nvPr/>
        </p:nvSpPr>
        <p:spPr>
          <a:xfrm>
            <a:off x="3886200" y="4389120"/>
            <a:ext cx="1554480" cy="246888"/>
          </a:xfrm>
          <a:prstGeom prst="rect">
            <a:avLst/>
          </a:prstGeom>
          <a:solidFill>
            <a:srgbClr val="16163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9"/>
          <p:cNvSpPr/>
          <p:nvPr/>
        </p:nvSpPr>
        <p:spPr>
          <a:xfrm>
            <a:off x="3977640" y="4425696"/>
            <a:ext cx="1417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30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9"/>
          <p:cNvSpPr/>
          <p:nvPr/>
        </p:nvSpPr>
        <p:spPr>
          <a:xfrm>
            <a:off x="5440680" y="4389120"/>
            <a:ext cx="1097280" cy="246888"/>
          </a:xfrm>
          <a:prstGeom prst="rect">
            <a:avLst/>
          </a:prstGeom>
          <a:solidFill>
            <a:srgbClr val="16163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9"/>
          <p:cNvSpPr/>
          <p:nvPr/>
        </p:nvSpPr>
        <p:spPr>
          <a:xfrm>
            <a:off x="5532120" y="4425696"/>
            <a:ext cx="9601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~82%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9"/>
          <p:cNvSpPr/>
          <p:nvPr/>
        </p:nvSpPr>
        <p:spPr>
          <a:xfrm>
            <a:off x="6537960" y="4389120"/>
            <a:ext cx="1783080" cy="246888"/>
          </a:xfrm>
          <a:prstGeom prst="rect">
            <a:avLst/>
          </a:prstGeom>
          <a:solidFill>
            <a:srgbClr val="16163A"/>
          </a:solidFill>
          <a:ln cap="flat" cmpd="sng" w="9525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9"/>
          <p:cNvSpPr/>
          <p:nvPr/>
        </p:nvSpPr>
        <p:spPr>
          <a:xfrm>
            <a:off x="6629400" y="4425696"/>
            <a:ext cx="16459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Claude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1A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1A6A">
              <a:alpha val="34901"/>
            </a:srgbClr>
          </a:solidFill>
          <a:ln cap="flat" cmpd="sng" w="12700">
            <a:solidFill>
              <a:srgbClr val="2A1A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0"/>
          <p:cNvSpPr/>
          <p:nvPr/>
        </p:nvSpPr>
        <p:spPr>
          <a:xfrm>
            <a:off x="457200" y="2743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8C3D"/>
                </a:solidFill>
                <a:latin typeface="Trebuchet MS"/>
                <a:ea typeface="Trebuchet MS"/>
                <a:cs typeface="Trebuchet MS"/>
                <a:sym typeface="Trebuchet MS"/>
              </a:rPr>
              <a:t>CONSULTANT CONSTRAINTS LAYER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457200" y="50292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Built for service design consultants — not just in-house teams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365760" y="1078992"/>
            <a:ext cx="4069080" cy="173736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0"/>
          <p:cNvSpPr/>
          <p:nvPr/>
        </p:nvSpPr>
        <p:spPr>
          <a:xfrm>
            <a:off x="365760" y="1078992"/>
            <a:ext cx="4069080" cy="64008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0"/>
          <p:cNvSpPr/>
          <p:nvPr/>
        </p:nvSpPr>
        <p:spPr>
          <a:xfrm>
            <a:off x="548640" y="121615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Client Budget &amp; Tool Licensing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548640" y="1554480"/>
            <a:ext cx="374904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Every tool recommendation shows freemium tier status and a 'client-approval-required' flag. A 'fast lane' surfaces tools usable today without procurement.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4709160" y="1078992"/>
            <a:ext cx="4069080" cy="173736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0"/>
          <p:cNvSpPr/>
          <p:nvPr/>
        </p:nvSpPr>
        <p:spPr>
          <a:xfrm>
            <a:off x="4709160" y="1078992"/>
            <a:ext cx="4069080" cy="64008"/>
          </a:xfrm>
          <a:prstGeom prst="rect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0"/>
          <p:cNvSpPr/>
          <p:nvPr/>
        </p:nvSpPr>
        <p:spPr>
          <a:xfrm>
            <a:off x="4892040" y="121615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3DFFD0"/>
                </a:solidFill>
                <a:latin typeface="Trebuchet MS"/>
                <a:ea typeface="Trebuchet MS"/>
                <a:cs typeface="Trebuchet MS"/>
                <a:sym typeface="Trebuchet MS"/>
              </a:rPr>
              <a:t>Stakeholder Access &amp; Availability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4892040" y="1554480"/>
            <a:ext cx="374904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Methods shift toward async by default. AI diary studies over live interviews. Loom walkthroughs over workshops. Every synchronous method gets an async AI-assisted alternative.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365760" y="3017520"/>
            <a:ext cx="4069080" cy="173736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0"/>
          <p:cNvSpPr/>
          <p:nvPr/>
        </p:nvSpPr>
        <p:spPr>
          <a:xfrm>
            <a:off x="365760" y="3017520"/>
            <a:ext cx="4069080" cy="64008"/>
          </a:xfrm>
          <a:prstGeom prst="rect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0"/>
          <p:cNvSpPr/>
          <p:nvPr/>
        </p:nvSpPr>
        <p:spPr>
          <a:xfrm>
            <a:off x="548640" y="315468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8C3D"/>
                </a:solidFill>
                <a:latin typeface="Trebuchet MS"/>
                <a:ea typeface="Trebuchet MS"/>
                <a:cs typeface="Trebuchet MS"/>
                <a:sym typeface="Trebuchet MS"/>
              </a:rPr>
              <a:t>Existing Design System Maturity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548640" y="3493008"/>
            <a:ext cx="374904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Three paths: No system → lightweight foundation phase. Partial system → audit-first before design. Established → AI-governed compliance (Claude Code + Figma AI for 15+ file libraries).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4709160" y="3017520"/>
            <a:ext cx="4069080" cy="173736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0"/>
          <p:cNvSpPr/>
          <p:nvPr/>
        </p:nvSpPr>
        <p:spPr>
          <a:xfrm>
            <a:off x="4709160" y="3017520"/>
            <a:ext cx="4069080" cy="64008"/>
          </a:xfrm>
          <a:prstGeom prst="rect">
            <a:avLst/>
          </a:prstGeom>
          <a:solidFill>
            <a:srgbClr val="FF3DA8"/>
          </a:solidFill>
          <a:ln cap="flat" cmpd="sng" w="12700">
            <a:solidFill>
              <a:srgbClr val="FF3D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0"/>
          <p:cNvSpPr/>
          <p:nvPr/>
        </p:nvSpPr>
        <p:spPr>
          <a:xfrm>
            <a:off x="4892040" y="315468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A8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3DA8"/>
                </a:solidFill>
                <a:latin typeface="Trebuchet MS"/>
                <a:ea typeface="Trebuchet MS"/>
                <a:cs typeface="Trebuchet MS"/>
                <a:sym typeface="Trebuchet MS"/>
              </a:rPr>
              <a:t>Regulatory &amp; Compliance Environment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4892040" y="3493008"/>
            <a:ext cx="374904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Healthcare, finance, government, children's products trigger a data handling warning layer. Flags tools unsafe with real user data. Recommends anonymisation workflows and local LLM alternatives.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1A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1A6A">
              <a:alpha val="34901"/>
            </a:srgbClr>
          </a:solidFill>
          <a:ln cap="flat" cmpd="sng" w="12700">
            <a:solidFill>
              <a:srgbClr val="2A1A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1"/>
          <p:cNvSpPr/>
          <p:nvPr/>
        </p:nvSpPr>
        <p:spPr>
          <a:xfrm>
            <a:off x="457200" y="2743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MVP — PHASE 1 BUILD SCOPE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What goes into the first release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1"/>
          <p:cNvSpPr/>
          <p:nvPr/>
        </p:nvSpPr>
        <p:spPr>
          <a:xfrm>
            <a:off x="365760" y="1051560"/>
            <a:ext cx="4160520" cy="379476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1"/>
          <p:cNvSpPr/>
          <p:nvPr/>
        </p:nvSpPr>
        <p:spPr>
          <a:xfrm>
            <a:off x="365760" y="1051560"/>
            <a:ext cx="4160520" cy="64008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1"/>
          <p:cNvSpPr/>
          <p:nvPr/>
        </p:nvSpPr>
        <p:spPr>
          <a:xfrm>
            <a:off x="548640" y="11430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✓  MVP INCLUDED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1"/>
          <p:cNvSpPr/>
          <p:nvPr/>
        </p:nvSpPr>
        <p:spPr>
          <a:xfrm>
            <a:off x="548640" y="1508760"/>
            <a:ext cx="91440" cy="91440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1"/>
          <p:cNvSpPr/>
          <p:nvPr/>
        </p:nvSpPr>
        <p:spPr>
          <a:xfrm>
            <a:off x="731520" y="146304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Sanity CMS — full content model (articles, tools, templates, glossary)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1"/>
          <p:cNvSpPr/>
          <p:nvPr/>
        </p:nvSpPr>
        <p:spPr>
          <a:xfrm>
            <a:off x="548640" y="1819656"/>
            <a:ext cx="91440" cy="91440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1"/>
          <p:cNvSpPr/>
          <p:nvPr/>
        </p:nvSpPr>
        <p:spPr>
          <a:xfrm>
            <a:off x="731520" y="1773936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Next.js front-end with skill-level filtering (Junior / Mid / Senior)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1"/>
          <p:cNvSpPr/>
          <p:nvPr/>
        </p:nvSpPr>
        <p:spPr>
          <a:xfrm>
            <a:off x="548640" y="2130552"/>
            <a:ext cx="91440" cy="91440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1"/>
          <p:cNvSpPr/>
          <p:nvPr/>
        </p:nvSpPr>
        <p:spPr>
          <a:xfrm>
            <a:off x="731520" y="2084832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Strategy Builder v1 — full 6-axis matrix with decision tree logic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1"/>
          <p:cNvSpPr/>
          <p:nvPr/>
        </p:nvSpPr>
        <p:spPr>
          <a:xfrm>
            <a:off x="548640" y="2441448"/>
            <a:ext cx="91440" cy="91440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1"/>
          <p:cNvSpPr/>
          <p:nvPr/>
        </p:nvSpPr>
        <p:spPr>
          <a:xfrm>
            <a:off x="731520" y="2395728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Sections 01–05 fully written with workflow content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1"/>
          <p:cNvSpPr/>
          <p:nvPr/>
        </p:nvSpPr>
        <p:spPr>
          <a:xfrm>
            <a:off x="548640" y="2752344"/>
            <a:ext cx="91440" cy="91440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1"/>
          <p:cNvSpPr/>
          <p:nvPr/>
        </p:nvSpPr>
        <p:spPr>
          <a:xfrm>
            <a:off x="731520" y="2706624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Tool Directory — 20+ tools with freemium + client-safe flags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1"/>
          <p:cNvSpPr/>
          <p:nvPr/>
        </p:nvSpPr>
        <p:spPr>
          <a:xfrm>
            <a:off x="548640" y="3063240"/>
            <a:ext cx="91440" cy="91440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1"/>
          <p:cNvSpPr/>
          <p:nvPr/>
        </p:nvSpPr>
        <p:spPr>
          <a:xfrm>
            <a:off x="731520" y="3017520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Glossary — 30 AI + UX terms, auto-linked across content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1"/>
          <p:cNvSpPr/>
          <p:nvPr/>
        </p:nvSpPr>
        <p:spPr>
          <a:xfrm>
            <a:off x="548640" y="3374136"/>
            <a:ext cx="91440" cy="91440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1"/>
          <p:cNvSpPr/>
          <p:nvPr/>
        </p:nvSpPr>
        <p:spPr>
          <a:xfrm>
            <a:off x="731520" y="3328416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Contributor Hub — invite-only onboarding portal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1"/>
          <p:cNvSpPr/>
          <p:nvPr/>
        </p:nvSpPr>
        <p:spPr>
          <a:xfrm>
            <a:off x="548640" y="3685032"/>
            <a:ext cx="91440" cy="91440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1"/>
          <p:cNvSpPr/>
          <p:nvPr/>
        </p:nvSpPr>
        <p:spPr>
          <a:xfrm>
            <a:off x="731520" y="3639312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Downloadable strategy canvas template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1"/>
          <p:cNvSpPr/>
          <p:nvPr/>
        </p:nvSpPr>
        <p:spPr>
          <a:xfrm>
            <a:off x="548640" y="3995928"/>
            <a:ext cx="91440" cy="91440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1"/>
          <p:cNvSpPr/>
          <p:nvPr/>
        </p:nvSpPr>
        <p:spPr>
          <a:xfrm>
            <a:off x="731520" y="3950208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YouTube embed slots per article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1"/>
          <p:cNvSpPr/>
          <p:nvPr/>
        </p:nvSpPr>
        <p:spPr>
          <a:xfrm>
            <a:off x="548640" y="4306824"/>
            <a:ext cx="91440" cy="91440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1"/>
          <p:cNvSpPr/>
          <p:nvPr/>
        </p:nvSpPr>
        <p:spPr>
          <a:xfrm>
            <a:off x="731520" y="4261104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Mobile-responsive 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1"/>
          <p:cNvSpPr/>
          <p:nvPr/>
        </p:nvSpPr>
        <p:spPr>
          <a:xfrm>
            <a:off x="4709160" y="1051560"/>
            <a:ext cx="4069080" cy="1810512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1"/>
          <p:cNvSpPr/>
          <p:nvPr/>
        </p:nvSpPr>
        <p:spPr>
          <a:xfrm>
            <a:off x="4709160" y="1051560"/>
            <a:ext cx="4069080" cy="64008"/>
          </a:xfrm>
          <a:prstGeom prst="rect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1"/>
          <p:cNvSpPr/>
          <p:nvPr/>
        </p:nvSpPr>
        <p:spPr>
          <a:xfrm>
            <a:off x="4892040" y="11430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3DFFD0"/>
                </a:solidFill>
                <a:latin typeface="Trebuchet MS"/>
                <a:ea typeface="Trebuchet MS"/>
                <a:cs typeface="Trebuchet MS"/>
                <a:sym typeface="Trebuchet MS"/>
              </a:rPr>
              <a:t>◎  PHASE 2 — Content Depth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1"/>
          <p:cNvSpPr/>
          <p:nvPr/>
        </p:nvSpPr>
        <p:spPr>
          <a:xfrm>
            <a:off x="4892040" y="1508760"/>
            <a:ext cx="82296" cy="82296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1"/>
          <p:cNvSpPr/>
          <p:nvPr/>
        </p:nvSpPr>
        <p:spPr>
          <a:xfrm>
            <a:off x="5074920" y="1407864"/>
            <a:ext cx="3520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Sections 06–08 fully populated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1"/>
          <p:cNvSpPr/>
          <p:nvPr/>
        </p:nvSpPr>
        <p:spPr>
          <a:xfrm>
            <a:off x="4892040" y="1801368"/>
            <a:ext cx="82296" cy="82296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1"/>
          <p:cNvSpPr/>
          <p:nvPr/>
        </p:nvSpPr>
        <p:spPr>
          <a:xfrm>
            <a:off x="5074920" y="1700472"/>
            <a:ext cx="3520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All downloadable templates live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1"/>
          <p:cNvSpPr/>
          <p:nvPr/>
        </p:nvSpPr>
        <p:spPr>
          <a:xfrm>
            <a:off x="4892040" y="2093976"/>
            <a:ext cx="82296" cy="82296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1"/>
          <p:cNvSpPr/>
          <p:nvPr/>
        </p:nvSpPr>
        <p:spPr>
          <a:xfrm>
            <a:off x="5074920" y="1993080"/>
            <a:ext cx="3520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Calculators (sample size, timeline estimator)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1"/>
          <p:cNvSpPr/>
          <p:nvPr/>
        </p:nvSpPr>
        <p:spPr>
          <a:xfrm>
            <a:off x="4892040" y="2386584"/>
            <a:ext cx="82296" cy="82296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1"/>
          <p:cNvSpPr/>
          <p:nvPr/>
        </p:nvSpPr>
        <p:spPr>
          <a:xfrm>
            <a:off x="5074920" y="2285688"/>
            <a:ext cx="3520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Prompt Builder interactive tool in Section 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1"/>
          <p:cNvSpPr/>
          <p:nvPr/>
        </p:nvSpPr>
        <p:spPr>
          <a:xfrm>
            <a:off x="4892040" y="2679192"/>
            <a:ext cx="82296" cy="82296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1"/>
          <p:cNvSpPr/>
          <p:nvPr/>
        </p:nvSpPr>
        <p:spPr>
          <a:xfrm>
            <a:off x="5074920" y="2578296"/>
            <a:ext cx="3520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Tool Directory expanded to 60 tools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1"/>
          <p:cNvSpPr/>
          <p:nvPr/>
        </p:nvSpPr>
        <p:spPr>
          <a:xfrm>
            <a:off x="4709160" y="2999232"/>
            <a:ext cx="4069080" cy="1847088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1"/>
          <p:cNvSpPr/>
          <p:nvPr/>
        </p:nvSpPr>
        <p:spPr>
          <a:xfrm>
            <a:off x="4709160" y="2999232"/>
            <a:ext cx="4069080" cy="64008"/>
          </a:xfrm>
          <a:prstGeom prst="rect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1"/>
          <p:cNvSpPr/>
          <p:nvPr/>
        </p:nvSpPr>
        <p:spPr>
          <a:xfrm>
            <a:off x="4892040" y="309067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8C3D"/>
                </a:solidFill>
                <a:latin typeface="Trebuchet MS"/>
                <a:ea typeface="Trebuchet MS"/>
                <a:cs typeface="Trebuchet MS"/>
                <a:sym typeface="Trebuchet MS"/>
              </a:rPr>
              <a:t>▣  PHASE 3 — Intelligence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1"/>
          <p:cNvSpPr/>
          <p:nvPr/>
        </p:nvSpPr>
        <p:spPr>
          <a:xfrm>
            <a:off x="4892040" y="3456432"/>
            <a:ext cx="82296" cy="82296"/>
          </a:xfrm>
          <a:prstGeom prst="ellipse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1"/>
          <p:cNvSpPr/>
          <p:nvPr/>
        </p:nvSpPr>
        <p:spPr>
          <a:xfrm>
            <a:off x="5074920" y="3419856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Strategy Builder v2 — Claude API for personalised narratives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1"/>
          <p:cNvSpPr/>
          <p:nvPr/>
        </p:nvSpPr>
        <p:spPr>
          <a:xfrm>
            <a:off x="4892040" y="3749040"/>
            <a:ext cx="82296" cy="82296"/>
          </a:xfrm>
          <a:prstGeom prst="ellipse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1"/>
          <p:cNvSpPr/>
          <p:nvPr/>
        </p:nvSpPr>
        <p:spPr>
          <a:xfrm>
            <a:off x="5074920" y="3712464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Semantic search with skill-level filtering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1"/>
          <p:cNvSpPr/>
          <p:nvPr/>
        </p:nvSpPr>
        <p:spPr>
          <a:xfrm>
            <a:off x="4892040" y="4041648"/>
            <a:ext cx="82296" cy="82296"/>
          </a:xfrm>
          <a:prstGeom prst="ellipse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1"/>
          <p:cNvSpPr/>
          <p:nvPr/>
        </p:nvSpPr>
        <p:spPr>
          <a:xfrm>
            <a:off x="5074920" y="4005072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Community contributor features + newsletter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1"/>
          <p:cNvSpPr/>
          <p:nvPr/>
        </p:nvSpPr>
        <p:spPr>
          <a:xfrm>
            <a:off x="4892040" y="4334256"/>
            <a:ext cx="82296" cy="82296"/>
          </a:xfrm>
          <a:prstGeom prst="ellipse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1"/>
          <p:cNvSpPr/>
          <p:nvPr/>
        </p:nvSpPr>
        <p:spPr>
          <a:xfrm>
            <a:off x="5074920" y="4297680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A/B optimisation of content paths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1"/>
          <p:cNvSpPr/>
          <p:nvPr/>
        </p:nvSpPr>
        <p:spPr>
          <a:xfrm>
            <a:off x="4892040" y="4626864"/>
            <a:ext cx="82296" cy="82296"/>
          </a:xfrm>
          <a:prstGeom prst="ellipse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1"/>
          <p:cNvSpPr/>
          <p:nvPr/>
        </p:nvSpPr>
        <p:spPr>
          <a:xfrm>
            <a:off x="5074920" y="4590288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Analytics dashboard for usage insights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1A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2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1A6A">
              <a:alpha val="34901"/>
            </a:srgbClr>
          </a:solidFill>
          <a:ln cap="flat" cmpd="sng" w="12700">
            <a:solidFill>
              <a:srgbClr val="2A1A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2"/>
          <p:cNvSpPr/>
          <p:nvPr/>
        </p:nvSpPr>
        <p:spPr>
          <a:xfrm>
            <a:off x="457200" y="2743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A8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3DA8"/>
                </a:solidFill>
                <a:latin typeface="Trebuchet MS"/>
                <a:ea typeface="Trebuchet MS"/>
                <a:cs typeface="Trebuchet MS"/>
                <a:sym typeface="Trebuchet MS"/>
              </a:rPr>
              <a:t>TARGET AUDIENCE &amp; USER FLOW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Designed for every level of UX practice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2"/>
          <p:cNvSpPr/>
          <p:nvPr/>
        </p:nvSpPr>
        <p:spPr>
          <a:xfrm>
            <a:off x="320040" y="1078992"/>
            <a:ext cx="2724912" cy="379476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2"/>
          <p:cNvSpPr/>
          <p:nvPr/>
        </p:nvSpPr>
        <p:spPr>
          <a:xfrm>
            <a:off x="320040" y="1078992"/>
            <a:ext cx="2724912" cy="73152"/>
          </a:xfrm>
          <a:prstGeom prst="rect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2"/>
          <p:cNvSpPr/>
          <p:nvPr/>
        </p:nvSpPr>
        <p:spPr>
          <a:xfrm>
            <a:off x="484632" y="11887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3DFFD0"/>
                </a:solidFill>
                <a:latin typeface="Trebuchet MS"/>
                <a:ea typeface="Trebuchet MS"/>
                <a:cs typeface="Trebuchet MS"/>
                <a:sym typeface="Trebuchet MS"/>
              </a:rPr>
              <a:t>Junior Designer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2"/>
          <p:cNvSpPr/>
          <p:nvPr/>
        </p:nvSpPr>
        <p:spPr>
          <a:xfrm>
            <a:off x="484632" y="1536192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Need: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2"/>
          <p:cNvSpPr/>
          <p:nvPr/>
        </p:nvSpPr>
        <p:spPr>
          <a:xfrm>
            <a:off x="484632" y="1719072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Understand what AI tools exist and how to use them without looking lost in a team meeting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2"/>
          <p:cNvSpPr/>
          <p:nvPr/>
        </p:nvSpPr>
        <p:spPr>
          <a:xfrm>
            <a:off x="484632" y="2395728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User Flow: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2"/>
          <p:cNvSpPr/>
          <p:nvPr/>
        </p:nvSpPr>
        <p:spPr>
          <a:xfrm>
            <a:off x="484632" y="2633472"/>
            <a:ext cx="201168" cy="20116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2"/>
          <p:cNvSpPr/>
          <p:nvPr/>
        </p:nvSpPr>
        <p:spPr>
          <a:xfrm>
            <a:off x="484632" y="263347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2"/>
          <p:cNvSpPr/>
          <p:nvPr/>
        </p:nvSpPr>
        <p:spPr>
          <a:xfrm>
            <a:off x="758952" y="2642616"/>
            <a:ext cx="2121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Lands on Wiki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2"/>
          <p:cNvSpPr/>
          <p:nvPr/>
        </p:nvSpPr>
        <p:spPr>
          <a:xfrm>
            <a:off x="484632" y="2926080"/>
            <a:ext cx="201168" cy="20116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2"/>
          <p:cNvSpPr/>
          <p:nvPr/>
        </p:nvSpPr>
        <p:spPr>
          <a:xfrm>
            <a:off x="484632" y="292608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2"/>
          <p:cNvSpPr/>
          <p:nvPr/>
        </p:nvSpPr>
        <p:spPr>
          <a:xfrm>
            <a:off x="758952" y="2935224"/>
            <a:ext cx="2121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Selects Junior filter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2"/>
          <p:cNvSpPr/>
          <p:nvPr/>
        </p:nvSpPr>
        <p:spPr>
          <a:xfrm>
            <a:off x="484632" y="3218688"/>
            <a:ext cx="201168" cy="20116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2"/>
          <p:cNvSpPr/>
          <p:nvPr/>
        </p:nvSpPr>
        <p:spPr>
          <a:xfrm>
            <a:off x="484632" y="321868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2"/>
          <p:cNvSpPr/>
          <p:nvPr/>
        </p:nvSpPr>
        <p:spPr>
          <a:xfrm>
            <a:off x="758952" y="3227832"/>
            <a:ext cx="2121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Reads section article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2"/>
          <p:cNvSpPr/>
          <p:nvPr/>
        </p:nvSpPr>
        <p:spPr>
          <a:xfrm>
            <a:off x="484632" y="3511296"/>
            <a:ext cx="201168" cy="20116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2"/>
          <p:cNvSpPr/>
          <p:nvPr/>
        </p:nvSpPr>
        <p:spPr>
          <a:xfrm>
            <a:off x="484632" y="351129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2"/>
          <p:cNvSpPr/>
          <p:nvPr/>
        </p:nvSpPr>
        <p:spPr>
          <a:xfrm>
            <a:off x="758952" y="3520440"/>
            <a:ext cx="2121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Watches embedded tutorial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2"/>
          <p:cNvSpPr/>
          <p:nvPr/>
        </p:nvSpPr>
        <p:spPr>
          <a:xfrm>
            <a:off x="484632" y="3803904"/>
            <a:ext cx="201168" cy="20116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2"/>
          <p:cNvSpPr/>
          <p:nvPr/>
        </p:nvSpPr>
        <p:spPr>
          <a:xfrm>
            <a:off x="484632" y="380390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2"/>
          <p:cNvSpPr/>
          <p:nvPr/>
        </p:nvSpPr>
        <p:spPr>
          <a:xfrm>
            <a:off x="758952" y="3813048"/>
            <a:ext cx="2121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Downloads template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2"/>
          <p:cNvSpPr/>
          <p:nvPr/>
        </p:nvSpPr>
        <p:spPr>
          <a:xfrm>
            <a:off x="484632" y="411480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Key tools: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2"/>
          <p:cNvSpPr/>
          <p:nvPr/>
        </p:nvSpPr>
        <p:spPr>
          <a:xfrm>
            <a:off x="484632" y="429768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DFFD0"/>
                </a:solidFill>
                <a:latin typeface="Calibri"/>
                <a:ea typeface="Calibri"/>
                <a:cs typeface="Calibri"/>
                <a:sym typeface="Calibri"/>
              </a:rPr>
              <a:t>Otter.ai, Maze, Claude.ai basics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2"/>
          <p:cNvSpPr/>
          <p:nvPr/>
        </p:nvSpPr>
        <p:spPr>
          <a:xfrm>
            <a:off x="3246120" y="1078992"/>
            <a:ext cx="2724912" cy="379476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2"/>
          <p:cNvSpPr/>
          <p:nvPr/>
        </p:nvSpPr>
        <p:spPr>
          <a:xfrm>
            <a:off x="3246120" y="1078992"/>
            <a:ext cx="2724912" cy="73152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2"/>
          <p:cNvSpPr/>
          <p:nvPr/>
        </p:nvSpPr>
        <p:spPr>
          <a:xfrm>
            <a:off x="3410712" y="11887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Mid-Level Designer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2"/>
          <p:cNvSpPr/>
          <p:nvPr/>
        </p:nvSpPr>
        <p:spPr>
          <a:xfrm>
            <a:off x="3410712" y="1536192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Need: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2"/>
          <p:cNvSpPr/>
          <p:nvPr/>
        </p:nvSpPr>
        <p:spPr>
          <a:xfrm>
            <a:off x="3410712" y="1719072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Upgrade research and testing workflows. Find templates deployable immediately on live projects.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2"/>
          <p:cNvSpPr/>
          <p:nvPr/>
        </p:nvSpPr>
        <p:spPr>
          <a:xfrm>
            <a:off x="3410712" y="2395728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User Flow: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2"/>
          <p:cNvSpPr/>
          <p:nvPr/>
        </p:nvSpPr>
        <p:spPr>
          <a:xfrm>
            <a:off x="3410712" y="2633472"/>
            <a:ext cx="201168" cy="20116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2"/>
          <p:cNvSpPr/>
          <p:nvPr/>
        </p:nvSpPr>
        <p:spPr>
          <a:xfrm>
            <a:off x="3410712" y="263347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4FF4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2"/>
          <p:cNvSpPr/>
          <p:nvPr/>
        </p:nvSpPr>
        <p:spPr>
          <a:xfrm>
            <a:off x="3685032" y="2642616"/>
            <a:ext cx="2121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Uses Strategy Builder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2"/>
          <p:cNvSpPr/>
          <p:nvPr/>
        </p:nvSpPr>
        <p:spPr>
          <a:xfrm>
            <a:off x="3410712" y="2926080"/>
            <a:ext cx="201168" cy="20116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2"/>
          <p:cNvSpPr/>
          <p:nvPr/>
        </p:nvSpPr>
        <p:spPr>
          <a:xfrm>
            <a:off x="3410712" y="292608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4FF4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2"/>
          <p:cNvSpPr/>
          <p:nvPr/>
        </p:nvSpPr>
        <p:spPr>
          <a:xfrm>
            <a:off x="3685032" y="2935224"/>
            <a:ext cx="2121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Inputs project matrix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2"/>
          <p:cNvSpPr/>
          <p:nvPr/>
        </p:nvSpPr>
        <p:spPr>
          <a:xfrm>
            <a:off x="3410712" y="3218688"/>
            <a:ext cx="201168" cy="20116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2"/>
          <p:cNvSpPr/>
          <p:nvPr/>
        </p:nvSpPr>
        <p:spPr>
          <a:xfrm>
            <a:off x="3410712" y="321868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4FF4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2"/>
          <p:cNvSpPr/>
          <p:nvPr/>
        </p:nvSpPr>
        <p:spPr>
          <a:xfrm>
            <a:off x="3685032" y="3227832"/>
            <a:ext cx="2121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Gets tool stack output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2"/>
          <p:cNvSpPr/>
          <p:nvPr/>
        </p:nvSpPr>
        <p:spPr>
          <a:xfrm>
            <a:off x="3410712" y="3511296"/>
            <a:ext cx="201168" cy="20116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2"/>
          <p:cNvSpPr/>
          <p:nvPr/>
        </p:nvSpPr>
        <p:spPr>
          <a:xfrm>
            <a:off x="3410712" y="351129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4FF4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2"/>
          <p:cNvSpPr/>
          <p:nvPr/>
        </p:nvSpPr>
        <p:spPr>
          <a:xfrm>
            <a:off x="3685032" y="3520440"/>
            <a:ext cx="2121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Reads matched articles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2"/>
          <p:cNvSpPr/>
          <p:nvPr/>
        </p:nvSpPr>
        <p:spPr>
          <a:xfrm>
            <a:off x="3410712" y="3803904"/>
            <a:ext cx="201168" cy="20116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2"/>
          <p:cNvSpPr/>
          <p:nvPr/>
        </p:nvSpPr>
        <p:spPr>
          <a:xfrm>
            <a:off x="3410712" y="380390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4FF4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2"/>
          <p:cNvSpPr/>
          <p:nvPr/>
        </p:nvSpPr>
        <p:spPr>
          <a:xfrm>
            <a:off x="3685032" y="3813048"/>
            <a:ext cx="2121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Downloads canvas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2"/>
          <p:cNvSpPr/>
          <p:nvPr/>
        </p:nvSpPr>
        <p:spPr>
          <a:xfrm>
            <a:off x="3410712" y="411480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Key tools: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2"/>
          <p:cNvSpPr/>
          <p:nvPr/>
        </p:nvSpPr>
        <p:spPr>
          <a:xfrm>
            <a:off x="3410712" y="429768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4FF47"/>
                </a:solidFill>
                <a:latin typeface="Calibri"/>
                <a:ea typeface="Calibri"/>
                <a:cs typeface="Calibri"/>
                <a:sym typeface="Calibri"/>
              </a:rPr>
              <a:t>Dovetail, Figma AI, Notion AI, Miro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2"/>
          <p:cNvSpPr/>
          <p:nvPr/>
        </p:nvSpPr>
        <p:spPr>
          <a:xfrm>
            <a:off x="6172200" y="1078992"/>
            <a:ext cx="2724912" cy="379476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2"/>
          <p:cNvSpPr/>
          <p:nvPr/>
        </p:nvSpPr>
        <p:spPr>
          <a:xfrm>
            <a:off x="6172200" y="1078992"/>
            <a:ext cx="2724912" cy="73152"/>
          </a:xfrm>
          <a:prstGeom prst="rect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2"/>
          <p:cNvSpPr/>
          <p:nvPr/>
        </p:nvSpPr>
        <p:spPr>
          <a:xfrm>
            <a:off x="6336792" y="11887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8C3D"/>
                </a:solidFill>
                <a:latin typeface="Trebuchet MS"/>
                <a:ea typeface="Trebuchet MS"/>
                <a:cs typeface="Trebuchet MS"/>
                <a:sym typeface="Trebuchet MS"/>
              </a:rPr>
              <a:t>Senior / Design Lead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2"/>
          <p:cNvSpPr/>
          <p:nvPr/>
        </p:nvSpPr>
        <p:spPr>
          <a:xfrm>
            <a:off x="6336792" y="1536192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Need: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2"/>
          <p:cNvSpPr/>
          <p:nvPr/>
        </p:nvSpPr>
        <p:spPr>
          <a:xfrm>
            <a:off x="6336792" y="1719072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Build AI-augmented practice at org level. Evaluate tools critically. Lead adoption across teams.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2"/>
          <p:cNvSpPr/>
          <p:nvPr/>
        </p:nvSpPr>
        <p:spPr>
          <a:xfrm>
            <a:off x="6336792" y="2395728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User Flow: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2"/>
          <p:cNvSpPr/>
          <p:nvPr/>
        </p:nvSpPr>
        <p:spPr>
          <a:xfrm>
            <a:off x="6336792" y="2633472"/>
            <a:ext cx="201168" cy="20116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2"/>
          <p:cNvSpPr/>
          <p:nvPr/>
        </p:nvSpPr>
        <p:spPr>
          <a:xfrm>
            <a:off x="6336792" y="263347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8C3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2"/>
          <p:cNvSpPr/>
          <p:nvPr/>
        </p:nvSpPr>
        <p:spPr>
          <a:xfrm>
            <a:off x="6611112" y="2642616"/>
            <a:ext cx="2121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Strategy Builder (enterprise)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2"/>
          <p:cNvSpPr/>
          <p:nvPr/>
        </p:nvSpPr>
        <p:spPr>
          <a:xfrm>
            <a:off x="6336792" y="2926080"/>
            <a:ext cx="201168" cy="20116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2"/>
          <p:cNvSpPr/>
          <p:nvPr/>
        </p:nvSpPr>
        <p:spPr>
          <a:xfrm>
            <a:off x="6336792" y="292608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8C3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2"/>
          <p:cNvSpPr/>
          <p:nvPr/>
        </p:nvSpPr>
        <p:spPr>
          <a:xfrm>
            <a:off x="6611112" y="2935224"/>
            <a:ext cx="2121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Reviews constraint surface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2"/>
          <p:cNvSpPr/>
          <p:nvPr/>
        </p:nvSpPr>
        <p:spPr>
          <a:xfrm>
            <a:off x="6336792" y="3218688"/>
            <a:ext cx="201168" cy="20116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2"/>
          <p:cNvSpPr/>
          <p:nvPr/>
        </p:nvSpPr>
        <p:spPr>
          <a:xfrm>
            <a:off x="6336792" y="321868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8C3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2"/>
          <p:cNvSpPr/>
          <p:nvPr/>
        </p:nvSpPr>
        <p:spPr>
          <a:xfrm>
            <a:off x="6611112" y="3227832"/>
            <a:ext cx="2121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Shares canvas with stakeholders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2"/>
          <p:cNvSpPr/>
          <p:nvPr/>
        </p:nvSpPr>
        <p:spPr>
          <a:xfrm>
            <a:off x="6336792" y="3511296"/>
            <a:ext cx="201168" cy="20116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2"/>
          <p:cNvSpPr/>
          <p:nvPr/>
        </p:nvSpPr>
        <p:spPr>
          <a:xfrm>
            <a:off x="6336792" y="351129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8C3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2"/>
          <p:cNvSpPr/>
          <p:nvPr/>
        </p:nvSpPr>
        <p:spPr>
          <a:xfrm>
            <a:off x="6611112" y="3520440"/>
            <a:ext cx="2121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Sets team tool stack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2"/>
          <p:cNvSpPr/>
          <p:nvPr/>
        </p:nvSpPr>
        <p:spPr>
          <a:xfrm>
            <a:off x="6336792" y="3803904"/>
            <a:ext cx="201168" cy="20116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2"/>
          <p:cNvSpPr/>
          <p:nvPr/>
        </p:nvSpPr>
        <p:spPr>
          <a:xfrm>
            <a:off x="6336792" y="380390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8C3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2"/>
          <p:cNvSpPr/>
          <p:nvPr/>
        </p:nvSpPr>
        <p:spPr>
          <a:xfrm>
            <a:off x="6611112" y="3813048"/>
            <a:ext cx="2121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Trains team on workflow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2"/>
          <p:cNvSpPr/>
          <p:nvPr/>
        </p:nvSpPr>
        <p:spPr>
          <a:xfrm>
            <a:off x="6336792" y="411480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Key tools: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2"/>
          <p:cNvSpPr/>
          <p:nvPr/>
        </p:nvSpPr>
        <p:spPr>
          <a:xfrm>
            <a:off x="6336792" y="429768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8C3D"/>
                </a:solidFill>
                <a:latin typeface="Calibri"/>
                <a:ea typeface="Calibri"/>
                <a:cs typeface="Calibri"/>
                <a:sym typeface="Calibri"/>
              </a:rPr>
              <a:t>Claude Code, Figma AI, Dovetail, full stack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1A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3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1A6A">
              <a:alpha val="34901"/>
            </a:srgbClr>
          </a:solidFill>
          <a:ln cap="flat" cmpd="sng" w="12700">
            <a:solidFill>
              <a:srgbClr val="2A1A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3"/>
          <p:cNvSpPr/>
          <p:nvPr/>
        </p:nvSpPr>
        <p:spPr>
          <a:xfrm>
            <a:off x="457200" y="2743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ROI &amp; VALUE PROPOSITION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Direct value for design teams and consultancies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3"/>
          <p:cNvSpPr/>
          <p:nvPr/>
        </p:nvSpPr>
        <p:spPr>
          <a:xfrm>
            <a:off x="365760" y="1024128"/>
            <a:ext cx="4160520" cy="38221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3"/>
          <p:cNvSpPr/>
          <p:nvPr/>
        </p:nvSpPr>
        <p:spPr>
          <a:xfrm>
            <a:off x="365760" y="1024128"/>
            <a:ext cx="4160520" cy="64008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3"/>
          <p:cNvSpPr/>
          <p:nvPr/>
        </p:nvSpPr>
        <p:spPr>
          <a:xfrm>
            <a:off x="548640" y="111556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Value to Designers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3"/>
          <p:cNvSpPr/>
          <p:nvPr/>
        </p:nvSpPr>
        <p:spPr>
          <a:xfrm>
            <a:off x="548640" y="1481328"/>
            <a:ext cx="54864" cy="502920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3"/>
          <p:cNvSpPr/>
          <p:nvPr/>
        </p:nvSpPr>
        <p:spPr>
          <a:xfrm>
            <a:off x="749808" y="1499616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3"/>
          <p:cNvSpPr/>
          <p:nvPr/>
        </p:nvSpPr>
        <p:spPr>
          <a:xfrm>
            <a:off x="749808" y="1700784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Recover 30–70% of time spent on manual synthesis, reporting, and research prep across every project phase.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3"/>
          <p:cNvSpPr/>
          <p:nvPr/>
        </p:nvSpPr>
        <p:spPr>
          <a:xfrm>
            <a:off x="548640" y="2139696"/>
            <a:ext cx="54864" cy="502920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3"/>
          <p:cNvSpPr/>
          <p:nvPr/>
        </p:nvSpPr>
        <p:spPr>
          <a:xfrm>
            <a:off x="749808" y="2157984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Quality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3"/>
          <p:cNvSpPr/>
          <p:nvPr/>
        </p:nvSpPr>
        <p:spPr>
          <a:xfrm>
            <a:off x="749808" y="2359152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AI-assisted workflows surface insights and inconsistencies that manual review misses — especially at enterprise scale.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3"/>
          <p:cNvSpPr/>
          <p:nvPr/>
        </p:nvSpPr>
        <p:spPr>
          <a:xfrm>
            <a:off x="548640" y="2798064"/>
            <a:ext cx="54864" cy="502920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3"/>
          <p:cNvSpPr/>
          <p:nvPr/>
        </p:nvSpPr>
        <p:spPr>
          <a:xfrm>
            <a:off x="749808" y="2816352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3"/>
          <p:cNvSpPr/>
          <p:nvPr/>
        </p:nvSpPr>
        <p:spPr>
          <a:xfrm>
            <a:off x="749808" y="301752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Constraint-aware recommendations mean designers have a defensible rationale for every tool and method choice.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3"/>
          <p:cNvSpPr/>
          <p:nvPr/>
        </p:nvSpPr>
        <p:spPr>
          <a:xfrm>
            <a:off x="548640" y="3456432"/>
            <a:ext cx="54864" cy="502920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3"/>
          <p:cNvSpPr/>
          <p:nvPr/>
        </p:nvSpPr>
        <p:spPr>
          <a:xfrm>
            <a:off x="749808" y="3474720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Career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3"/>
          <p:cNvSpPr/>
          <p:nvPr/>
        </p:nvSpPr>
        <p:spPr>
          <a:xfrm>
            <a:off x="749808" y="3675888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Designers who can articulate AI-augmented workflows are increasingly the ones being promoted into design leadership.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3"/>
          <p:cNvSpPr/>
          <p:nvPr/>
        </p:nvSpPr>
        <p:spPr>
          <a:xfrm>
            <a:off x="548640" y="4114800"/>
            <a:ext cx="54864" cy="502920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3"/>
          <p:cNvSpPr/>
          <p:nvPr/>
        </p:nvSpPr>
        <p:spPr>
          <a:xfrm>
            <a:off x="749808" y="4133088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Consultant economics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3"/>
          <p:cNvSpPr/>
          <p:nvPr/>
        </p:nvSpPr>
        <p:spPr>
          <a:xfrm>
            <a:off x="749808" y="4334256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AI-accelerated audit delivery (3 days → 6 hours) directly improves fixed-bid profitability without reducing deliverable quality.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3"/>
          <p:cNvSpPr/>
          <p:nvPr/>
        </p:nvSpPr>
        <p:spPr>
          <a:xfrm>
            <a:off x="4709160" y="1024128"/>
            <a:ext cx="4069080" cy="1828800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3"/>
          <p:cNvSpPr/>
          <p:nvPr/>
        </p:nvSpPr>
        <p:spPr>
          <a:xfrm>
            <a:off x="4709160" y="1024128"/>
            <a:ext cx="4069080" cy="64008"/>
          </a:xfrm>
          <a:prstGeom prst="rect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3"/>
          <p:cNvSpPr/>
          <p:nvPr/>
        </p:nvSpPr>
        <p:spPr>
          <a:xfrm>
            <a:off x="4892040" y="111556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3DFFD0"/>
                </a:solidFill>
                <a:latin typeface="Trebuchet MS"/>
                <a:ea typeface="Trebuchet MS"/>
                <a:cs typeface="Trebuchet MS"/>
                <a:sym typeface="Trebuchet MS"/>
              </a:rPr>
              <a:t>Platform Ecosystem Value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3"/>
          <p:cNvSpPr/>
          <p:nvPr/>
        </p:nvSpPr>
        <p:spPr>
          <a:xfrm>
            <a:off x="4892040" y="1508760"/>
            <a:ext cx="91440" cy="91440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3"/>
          <p:cNvSpPr/>
          <p:nvPr/>
        </p:nvSpPr>
        <p:spPr>
          <a:xfrm>
            <a:off x="5074920" y="1472184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SEO value from tool directory pages — high search intent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3"/>
          <p:cNvSpPr/>
          <p:nvPr/>
        </p:nvSpPr>
        <p:spPr>
          <a:xfrm>
            <a:off x="4892040" y="1801368"/>
            <a:ext cx="91440" cy="91440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3"/>
          <p:cNvSpPr/>
          <p:nvPr/>
        </p:nvSpPr>
        <p:spPr>
          <a:xfrm>
            <a:off x="5074920" y="1764792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Return visits from Strategy Builder (project-by-project use)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3"/>
          <p:cNvSpPr/>
          <p:nvPr/>
        </p:nvSpPr>
        <p:spPr>
          <a:xfrm>
            <a:off x="4892040" y="2093976"/>
            <a:ext cx="91440" cy="91440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3"/>
          <p:cNvSpPr/>
          <p:nvPr/>
        </p:nvSpPr>
        <p:spPr>
          <a:xfrm>
            <a:off x="5074920" y="2057400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Industry authority through invite-only contributor network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3"/>
          <p:cNvSpPr/>
          <p:nvPr/>
        </p:nvSpPr>
        <p:spPr>
          <a:xfrm>
            <a:off x="4892040" y="2386584"/>
            <a:ext cx="91440" cy="91440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3"/>
          <p:cNvSpPr/>
          <p:nvPr/>
        </p:nvSpPr>
        <p:spPr>
          <a:xfrm>
            <a:off x="5074920" y="2350008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Potential future revenue: premium templates, courses, community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3"/>
          <p:cNvSpPr/>
          <p:nvPr/>
        </p:nvSpPr>
        <p:spPr>
          <a:xfrm>
            <a:off x="4709160" y="2990088"/>
            <a:ext cx="4069080" cy="1856232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3"/>
          <p:cNvSpPr/>
          <p:nvPr/>
        </p:nvSpPr>
        <p:spPr>
          <a:xfrm>
            <a:off x="4709160" y="2990088"/>
            <a:ext cx="4069080" cy="64008"/>
          </a:xfrm>
          <a:prstGeom prst="rect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3"/>
          <p:cNvSpPr/>
          <p:nvPr/>
        </p:nvSpPr>
        <p:spPr>
          <a:xfrm>
            <a:off x="4892040" y="308152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8C3D"/>
                </a:solidFill>
                <a:latin typeface="Trebuchet MS"/>
                <a:ea typeface="Trebuchet MS"/>
                <a:cs typeface="Trebuchet MS"/>
                <a:sym typeface="Trebuchet MS"/>
              </a:rPr>
              <a:t>Why Free Forever Wins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3"/>
          <p:cNvSpPr/>
          <p:nvPr/>
        </p:nvSpPr>
        <p:spPr>
          <a:xfrm>
            <a:off x="4892040" y="3456432"/>
            <a:ext cx="91440" cy="91440"/>
          </a:xfrm>
          <a:prstGeom prst="ellipse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3"/>
          <p:cNvSpPr/>
          <p:nvPr/>
        </p:nvSpPr>
        <p:spPr>
          <a:xfrm>
            <a:off x="5074920" y="3419856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Removes adoption barrier entirely — no procurement needed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3"/>
          <p:cNvSpPr/>
          <p:nvPr/>
        </p:nvSpPr>
        <p:spPr>
          <a:xfrm>
            <a:off x="4892040" y="3749040"/>
            <a:ext cx="91440" cy="91440"/>
          </a:xfrm>
          <a:prstGeom prst="ellipse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3"/>
          <p:cNvSpPr/>
          <p:nvPr/>
        </p:nvSpPr>
        <p:spPr>
          <a:xfrm>
            <a:off x="5074920" y="3712464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Builds authority and trust faster than paywalled content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3"/>
          <p:cNvSpPr/>
          <p:nvPr/>
        </p:nvSpPr>
        <p:spPr>
          <a:xfrm>
            <a:off x="4892040" y="4041648"/>
            <a:ext cx="91440" cy="91440"/>
          </a:xfrm>
          <a:prstGeom prst="ellipse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3"/>
          <p:cNvSpPr/>
          <p:nvPr/>
        </p:nvSpPr>
        <p:spPr>
          <a:xfrm>
            <a:off x="5074920" y="4005072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Grows contributor pool — practitioners want to publish here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3"/>
          <p:cNvSpPr/>
          <p:nvPr/>
        </p:nvSpPr>
        <p:spPr>
          <a:xfrm>
            <a:off x="4892040" y="4334256"/>
            <a:ext cx="91440" cy="91440"/>
          </a:xfrm>
          <a:prstGeom prst="ellipse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3"/>
          <p:cNvSpPr/>
          <p:nvPr/>
        </p:nvSpPr>
        <p:spPr>
          <a:xfrm>
            <a:off x="5074920" y="4297680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Nielsen Norman Group model: free content → paid training revenue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1A"/>
        </a:solid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4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1A6A">
              <a:alpha val="34901"/>
            </a:srgbClr>
          </a:solidFill>
          <a:ln cap="flat" cmpd="sng" w="12700">
            <a:solidFill>
              <a:srgbClr val="2A1A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4"/>
          <p:cNvSpPr/>
          <p:nvPr/>
        </p:nvSpPr>
        <p:spPr>
          <a:xfrm>
            <a:off x="457200" y="2743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3DFFD0"/>
                </a:solidFill>
                <a:latin typeface="Trebuchet MS"/>
                <a:ea typeface="Trebuchet MS"/>
                <a:cs typeface="Trebuchet MS"/>
                <a:sym typeface="Trebuchet MS"/>
              </a:rPr>
              <a:t>TECHNOLOGY STACK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4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Sanity CMS + Next.js — built to scale and update fast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4"/>
          <p:cNvSpPr/>
          <p:nvPr/>
        </p:nvSpPr>
        <p:spPr>
          <a:xfrm>
            <a:off x="365760" y="1078992"/>
            <a:ext cx="4069080" cy="114300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4"/>
          <p:cNvSpPr/>
          <p:nvPr/>
        </p:nvSpPr>
        <p:spPr>
          <a:xfrm>
            <a:off x="365760" y="1078992"/>
            <a:ext cx="64008" cy="1143000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4"/>
          <p:cNvSpPr/>
          <p:nvPr/>
        </p:nvSpPr>
        <p:spPr>
          <a:xfrm>
            <a:off x="548640" y="1170432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FRONTEND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4"/>
          <p:cNvSpPr/>
          <p:nvPr/>
        </p:nvSpPr>
        <p:spPr>
          <a:xfrm>
            <a:off x="548640" y="135331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Next.js (App Router)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4"/>
          <p:cNvSpPr/>
          <p:nvPr/>
        </p:nvSpPr>
        <p:spPr>
          <a:xfrm>
            <a:off x="548640" y="1609344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SEO-optimised, fast page loads, easy CMS integration. Industry standard for content-heavy platforms.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4"/>
          <p:cNvSpPr/>
          <p:nvPr/>
        </p:nvSpPr>
        <p:spPr>
          <a:xfrm>
            <a:off x="4709160" y="1078992"/>
            <a:ext cx="4069080" cy="114300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4"/>
          <p:cNvSpPr/>
          <p:nvPr/>
        </p:nvSpPr>
        <p:spPr>
          <a:xfrm>
            <a:off x="4709160" y="1078992"/>
            <a:ext cx="64008" cy="1143000"/>
          </a:xfrm>
          <a:prstGeom prst="rect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4"/>
          <p:cNvSpPr/>
          <p:nvPr/>
        </p:nvSpPr>
        <p:spPr>
          <a:xfrm>
            <a:off x="4892040" y="1170432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3DFFD0"/>
                </a:solidFill>
                <a:latin typeface="Trebuchet MS"/>
                <a:ea typeface="Trebuchet MS"/>
                <a:cs typeface="Trebuchet MS"/>
                <a:sym typeface="Trebuchet MS"/>
              </a:rPr>
              <a:t>CMS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4"/>
          <p:cNvSpPr/>
          <p:nvPr/>
        </p:nvSpPr>
        <p:spPr>
          <a:xfrm>
            <a:off x="4892040" y="135331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Sanity.io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4"/>
          <p:cNvSpPr/>
          <p:nvPr/>
        </p:nvSpPr>
        <p:spPr>
          <a:xfrm>
            <a:off x="4892040" y="1609344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Structured content modelling for multi-format, multi-level content. Portable text for rich embeds. Studio-based contributor editing.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4"/>
          <p:cNvSpPr/>
          <p:nvPr/>
        </p:nvSpPr>
        <p:spPr>
          <a:xfrm>
            <a:off x="365760" y="2377440"/>
            <a:ext cx="4069080" cy="114300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4"/>
          <p:cNvSpPr/>
          <p:nvPr/>
        </p:nvSpPr>
        <p:spPr>
          <a:xfrm>
            <a:off x="365760" y="2377440"/>
            <a:ext cx="64008" cy="1143000"/>
          </a:xfrm>
          <a:prstGeom prst="rect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4"/>
          <p:cNvSpPr/>
          <p:nvPr/>
        </p:nvSpPr>
        <p:spPr>
          <a:xfrm>
            <a:off x="548640" y="2468880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FF8C3D"/>
                </a:solidFill>
                <a:latin typeface="Trebuchet MS"/>
                <a:ea typeface="Trebuchet MS"/>
                <a:cs typeface="Trebuchet MS"/>
                <a:sym typeface="Trebuchet MS"/>
              </a:rPr>
              <a:t>STRATEGY BUILDER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4"/>
          <p:cNvSpPr/>
          <p:nvPr/>
        </p:nvSpPr>
        <p:spPr>
          <a:xfrm>
            <a:off x="548640" y="265176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React + Decision Tree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4"/>
          <p:cNvSpPr/>
          <p:nvPr/>
        </p:nvSpPr>
        <p:spPr>
          <a:xfrm>
            <a:off x="548640" y="2907792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v1: pure conditional logic — no AI API cost. v2 upgrade path to Claude API for personalised narrative output.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4"/>
          <p:cNvSpPr/>
          <p:nvPr/>
        </p:nvSpPr>
        <p:spPr>
          <a:xfrm>
            <a:off x="4709160" y="2377440"/>
            <a:ext cx="4069080" cy="114300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4"/>
          <p:cNvSpPr/>
          <p:nvPr/>
        </p:nvSpPr>
        <p:spPr>
          <a:xfrm>
            <a:off x="4709160" y="2377440"/>
            <a:ext cx="64008" cy="1143000"/>
          </a:xfrm>
          <a:prstGeom prst="rect">
            <a:avLst/>
          </a:prstGeom>
          <a:solidFill>
            <a:srgbClr val="FF3DA8"/>
          </a:solidFill>
          <a:ln cap="flat" cmpd="sng" w="12700">
            <a:solidFill>
              <a:srgbClr val="FF3D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4"/>
          <p:cNvSpPr/>
          <p:nvPr/>
        </p:nvSpPr>
        <p:spPr>
          <a:xfrm>
            <a:off x="4892040" y="2468880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A8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FF3DA8"/>
                </a:solidFill>
                <a:latin typeface="Trebuchet MS"/>
                <a:ea typeface="Trebuchet MS"/>
                <a:cs typeface="Trebuchet MS"/>
                <a:sym typeface="Trebuchet MS"/>
              </a:rPr>
              <a:t>HOSTING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4"/>
          <p:cNvSpPr/>
          <p:nvPr/>
        </p:nvSpPr>
        <p:spPr>
          <a:xfrm>
            <a:off x="4892040" y="265176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Vercel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4"/>
          <p:cNvSpPr/>
          <p:nvPr/>
        </p:nvSpPr>
        <p:spPr>
          <a:xfrm>
            <a:off x="4892040" y="2907792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One-click Next.js deploys. Edge functions for fast global delivery. Free tier for initial launch.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4"/>
          <p:cNvSpPr/>
          <p:nvPr/>
        </p:nvSpPr>
        <p:spPr>
          <a:xfrm>
            <a:off x="365760" y="3675888"/>
            <a:ext cx="4069080" cy="114300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4"/>
          <p:cNvSpPr/>
          <p:nvPr/>
        </p:nvSpPr>
        <p:spPr>
          <a:xfrm>
            <a:off x="365760" y="3675888"/>
            <a:ext cx="64008" cy="1143000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4"/>
          <p:cNvSpPr/>
          <p:nvPr/>
        </p:nvSpPr>
        <p:spPr>
          <a:xfrm>
            <a:off x="548640" y="3767328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CONTENT MODEL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4"/>
          <p:cNvSpPr/>
          <p:nvPr/>
        </p:nvSpPr>
        <p:spPr>
          <a:xfrm>
            <a:off x="548640" y="395020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Sanity Schema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4"/>
          <p:cNvSpPr/>
          <p:nvPr/>
        </p:nvSpPr>
        <p:spPr>
          <a:xfrm>
            <a:off x="548640" y="420624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Article, Tool Profile, Template, Video Embed, Glossary Term, Contributor Profile, Strategy Builder Config (editable JSON — no dev needed for tool updates).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4"/>
          <p:cNvSpPr/>
          <p:nvPr/>
        </p:nvSpPr>
        <p:spPr>
          <a:xfrm>
            <a:off x="4709160" y="3675888"/>
            <a:ext cx="4069080" cy="114300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4"/>
          <p:cNvSpPr/>
          <p:nvPr/>
        </p:nvSpPr>
        <p:spPr>
          <a:xfrm>
            <a:off x="4709160" y="3675888"/>
            <a:ext cx="64008" cy="1143000"/>
          </a:xfrm>
          <a:prstGeom prst="rect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4"/>
          <p:cNvSpPr/>
          <p:nvPr/>
        </p:nvSpPr>
        <p:spPr>
          <a:xfrm>
            <a:off x="4892040" y="3767328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3DFFD0"/>
                </a:solidFill>
                <a:latin typeface="Trebuchet MS"/>
                <a:ea typeface="Trebuchet MS"/>
                <a:cs typeface="Trebuchet MS"/>
                <a:sym typeface="Trebuchet MS"/>
              </a:rPr>
              <a:t>SEARCH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4"/>
          <p:cNvSpPr/>
          <p:nvPr/>
        </p:nvSpPr>
        <p:spPr>
          <a:xfrm>
            <a:off x="4892040" y="395020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Sanity GROQ + Algolia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4"/>
          <p:cNvSpPr/>
          <p:nvPr/>
        </p:nvSpPr>
        <p:spPr>
          <a:xfrm>
            <a:off x="4892040" y="420624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Phase 1: GROQ-powered search. Phase 3: Algolia for semantic search with skill-level and phase filtering.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1A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5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1A6A">
              <a:alpha val="34901"/>
            </a:srgbClr>
          </a:solidFill>
          <a:ln cap="flat" cmpd="sng" w="12700">
            <a:solidFill>
              <a:srgbClr val="2A1A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5"/>
          <p:cNvSpPr/>
          <p:nvPr/>
        </p:nvSpPr>
        <p:spPr>
          <a:xfrm>
            <a:off x="457200" y="2743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PHASED BUILD ROADMAP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5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Three phases — no fixed timeline, prioritise ruthlessly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5"/>
          <p:cNvSpPr/>
          <p:nvPr/>
        </p:nvSpPr>
        <p:spPr>
          <a:xfrm>
            <a:off x="320040" y="1024128"/>
            <a:ext cx="2743200" cy="38221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5"/>
          <p:cNvSpPr/>
          <p:nvPr/>
        </p:nvSpPr>
        <p:spPr>
          <a:xfrm>
            <a:off x="320040" y="1024128"/>
            <a:ext cx="2743200" cy="73152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5"/>
          <p:cNvSpPr/>
          <p:nvPr/>
        </p:nvSpPr>
        <p:spPr>
          <a:xfrm>
            <a:off x="484632" y="1115568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Phase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5"/>
          <p:cNvSpPr/>
          <p:nvPr/>
        </p:nvSpPr>
        <p:spPr>
          <a:xfrm>
            <a:off x="484632" y="132588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Foundation &amp; MVP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5"/>
          <p:cNvSpPr/>
          <p:nvPr/>
        </p:nvSpPr>
        <p:spPr>
          <a:xfrm>
            <a:off x="484632" y="1755648"/>
            <a:ext cx="82296" cy="82296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5"/>
          <p:cNvSpPr/>
          <p:nvPr/>
        </p:nvSpPr>
        <p:spPr>
          <a:xfrm>
            <a:off x="649224" y="1719072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Sanity CMS + Next.js setup with full content model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5"/>
          <p:cNvSpPr/>
          <p:nvPr/>
        </p:nvSpPr>
        <p:spPr>
          <a:xfrm>
            <a:off x="484632" y="2066544"/>
            <a:ext cx="82296" cy="82296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5"/>
          <p:cNvSpPr/>
          <p:nvPr/>
        </p:nvSpPr>
        <p:spPr>
          <a:xfrm>
            <a:off x="649224" y="2029968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Sections 01–05 written with workflow, tools, video slots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5"/>
          <p:cNvSpPr/>
          <p:nvPr/>
        </p:nvSpPr>
        <p:spPr>
          <a:xfrm>
            <a:off x="484632" y="2377440"/>
            <a:ext cx="82296" cy="82296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5"/>
          <p:cNvSpPr/>
          <p:nvPr/>
        </p:nvSpPr>
        <p:spPr>
          <a:xfrm>
            <a:off x="649224" y="2340864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Strategy Builder v1 (6-axis matrix, decision tree logic)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5"/>
          <p:cNvSpPr/>
          <p:nvPr/>
        </p:nvSpPr>
        <p:spPr>
          <a:xfrm>
            <a:off x="484632" y="2688336"/>
            <a:ext cx="82296" cy="82296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5"/>
          <p:cNvSpPr/>
          <p:nvPr/>
        </p:nvSpPr>
        <p:spPr>
          <a:xfrm>
            <a:off x="649224" y="2651760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Tool Directory — 20+ tools, freemium + client-safe flags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5"/>
          <p:cNvSpPr/>
          <p:nvPr/>
        </p:nvSpPr>
        <p:spPr>
          <a:xfrm>
            <a:off x="484632" y="2999232"/>
            <a:ext cx="82296" cy="82296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5"/>
          <p:cNvSpPr/>
          <p:nvPr/>
        </p:nvSpPr>
        <p:spPr>
          <a:xfrm>
            <a:off x="649224" y="2962656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Glossary — 30 terms, auto-linked across content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5"/>
          <p:cNvSpPr/>
          <p:nvPr/>
        </p:nvSpPr>
        <p:spPr>
          <a:xfrm>
            <a:off x="484632" y="3310128"/>
            <a:ext cx="82296" cy="82296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5"/>
          <p:cNvSpPr/>
          <p:nvPr/>
        </p:nvSpPr>
        <p:spPr>
          <a:xfrm>
            <a:off x="649224" y="3273552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Skill-level filter (Junior / Mid / Senior) across all content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5"/>
          <p:cNvSpPr/>
          <p:nvPr/>
        </p:nvSpPr>
        <p:spPr>
          <a:xfrm>
            <a:off x="484632" y="3621024"/>
            <a:ext cx="82296" cy="82296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5"/>
          <p:cNvSpPr/>
          <p:nvPr/>
        </p:nvSpPr>
        <p:spPr>
          <a:xfrm>
            <a:off x="649224" y="3584448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Contributor Hub onboarding portal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5"/>
          <p:cNvSpPr/>
          <p:nvPr/>
        </p:nvSpPr>
        <p:spPr>
          <a:xfrm>
            <a:off x="484632" y="3931920"/>
            <a:ext cx="82296" cy="82296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5"/>
          <p:cNvSpPr/>
          <p:nvPr/>
        </p:nvSpPr>
        <p:spPr>
          <a:xfrm>
            <a:off x="649224" y="3895344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Downloadable strategy canvas template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5"/>
          <p:cNvSpPr/>
          <p:nvPr/>
        </p:nvSpPr>
        <p:spPr>
          <a:xfrm>
            <a:off x="484632" y="4242816"/>
            <a:ext cx="82296" cy="82296"/>
          </a:xfrm>
          <a:prstGeom prst="ellipse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15"/>
          <p:cNvSpPr/>
          <p:nvPr/>
        </p:nvSpPr>
        <p:spPr>
          <a:xfrm>
            <a:off x="649224" y="4206240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Mobile-responsive, SEO-optimised launch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5"/>
          <p:cNvSpPr/>
          <p:nvPr/>
        </p:nvSpPr>
        <p:spPr>
          <a:xfrm>
            <a:off x="3264408" y="1024128"/>
            <a:ext cx="2743200" cy="38221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5"/>
          <p:cNvSpPr/>
          <p:nvPr/>
        </p:nvSpPr>
        <p:spPr>
          <a:xfrm>
            <a:off x="3264408" y="1024128"/>
            <a:ext cx="2743200" cy="73152"/>
          </a:xfrm>
          <a:prstGeom prst="rect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5"/>
          <p:cNvSpPr/>
          <p:nvPr/>
        </p:nvSpPr>
        <p:spPr>
          <a:xfrm>
            <a:off x="3429000" y="1115568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FFD0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3DFFD0"/>
                </a:solidFill>
                <a:latin typeface="Trebuchet MS"/>
                <a:ea typeface="Trebuchet MS"/>
                <a:cs typeface="Trebuchet MS"/>
                <a:sym typeface="Trebuchet MS"/>
              </a:rPr>
              <a:t>Phase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5"/>
          <p:cNvSpPr/>
          <p:nvPr/>
        </p:nvSpPr>
        <p:spPr>
          <a:xfrm>
            <a:off x="3429000" y="132588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Content Depth &amp; Interactivity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5"/>
          <p:cNvSpPr/>
          <p:nvPr/>
        </p:nvSpPr>
        <p:spPr>
          <a:xfrm>
            <a:off x="3429000" y="1755648"/>
            <a:ext cx="82296" cy="82296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5"/>
          <p:cNvSpPr/>
          <p:nvPr/>
        </p:nvSpPr>
        <p:spPr>
          <a:xfrm>
            <a:off x="3593592" y="1719072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Sections 06–08 fully written and published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5"/>
          <p:cNvSpPr/>
          <p:nvPr/>
        </p:nvSpPr>
        <p:spPr>
          <a:xfrm>
            <a:off x="3429000" y="2066544"/>
            <a:ext cx="82296" cy="82296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5"/>
          <p:cNvSpPr/>
          <p:nvPr/>
        </p:nvSpPr>
        <p:spPr>
          <a:xfrm>
            <a:off x="3593592" y="2029968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YouTube embeds — curated + original video production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5"/>
          <p:cNvSpPr/>
          <p:nvPr/>
        </p:nvSpPr>
        <p:spPr>
          <a:xfrm>
            <a:off x="3429000" y="2377440"/>
            <a:ext cx="82296" cy="82296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5"/>
          <p:cNvSpPr/>
          <p:nvPr/>
        </p:nvSpPr>
        <p:spPr>
          <a:xfrm>
            <a:off x="3593592" y="2340864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All downloadable templates live (Notion + Figma versions)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5"/>
          <p:cNvSpPr/>
          <p:nvPr/>
        </p:nvSpPr>
        <p:spPr>
          <a:xfrm>
            <a:off x="3429000" y="2688336"/>
            <a:ext cx="82296" cy="82296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5"/>
          <p:cNvSpPr/>
          <p:nvPr/>
        </p:nvSpPr>
        <p:spPr>
          <a:xfrm>
            <a:off x="3593592" y="2651760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Interactive calculators (sample size, timeline estimator)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5"/>
          <p:cNvSpPr/>
          <p:nvPr/>
        </p:nvSpPr>
        <p:spPr>
          <a:xfrm>
            <a:off x="3429000" y="2999232"/>
            <a:ext cx="82296" cy="82296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5"/>
          <p:cNvSpPr/>
          <p:nvPr/>
        </p:nvSpPr>
        <p:spPr>
          <a:xfrm>
            <a:off x="3593592" y="2962656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Prompt Builder tool — Section 06 Ideation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5"/>
          <p:cNvSpPr/>
          <p:nvPr/>
        </p:nvSpPr>
        <p:spPr>
          <a:xfrm>
            <a:off x="3429000" y="3310128"/>
            <a:ext cx="82296" cy="82296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5"/>
          <p:cNvSpPr/>
          <p:nvPr/>
        </p:nvSpPr>
        <p:spPr>
          <a:xfrm>
            <a:off x="3593592" y="3273552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Tool Directory expanded to 60+ tools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5"/>
          <p:cNvSpPr/>
          <p:nvPr/>
        </p:nvSpPr>
        <p:spPr>
          <a:xfrm>
            <a:off x="3429000" y="3621024"/>
            <a:ext cx="82296" cy="82296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5"/>
          <p:cNvSpPr/>
          <p:nvPr/>
        </p:nvSpPr>
        <p:spPr>
          <a:xfrm>
            <a:off x="3593592" y="3584448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Contributor workflow — submission portal and editorial review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5"/>
          <p:cNvSpPr/>
          <p:nvPr/>
        </p:nvSpPr>
        <p:spPr>
          <a:xfrm>
            <a:off x="3429000" y="3931920"/>
            <a:ext cx="82296" cy="82296"/>
          </a:xfrm>
          <a:prstGeom prst="ellipse">
            <a:avLst/>
          </a:prstGeom>
          <a:solidFill>
            <a:srgbClr val="3DFFD0"/>
          </a:solidFill>
          <a:ln cap="flat" cmpd="sng" w="12700">
            <a:solidFill>
              <a:srgbClr val="3DFF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5"/>
          <p:cNvSpPr/>
          <p:nvPr/>
        </p:nvSpPr>
        <p:spPr>
          <a:xfrm>
            <a:off x="3593592" y="3895344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Video content plan — 6 priority original tutorials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5"/>
          <p:cNvSpPr/>
          <p:nvPr/>
        </p:nvSpPr>
        <p:spPr>
          <a:xfrm>
            <a:off x="6208776" y="1024128"/>
            <a:ext cx="2743200" cy="3822192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15"/>
          <p:cNvSpPr/>
          <p:nvPr/>
        </p:nvSpPr>
        <p:spPr>
          <a:xfrm>
            <a:off x="6208776" y="1024128"/>
            <a:ext cx="2743200" cy="73152"/>
          </a:xfrm>
          <a:prstGeom prst="rect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5"/>
          <p:cNvSpPr/>
          <p:nvPr/>
        </p:nvSpPr>
        <p:spPr>
          <a:xfrm>
            <a:off x="6373368" y="1115568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3D"/>
              </a:buClr>
              <a:buSzPts val="950"/>
              <a:buFont typeface="Trebuchet MS"/>
              <a:buNone/>
            </a:pPr>
            <a:r>
              <a:rPr b="1" i="0" lang="en-US" sz="950" u="none" cap="none" strike="noStrike">
                <a:solidFill>
                  <a:srgbClr val="FF8C3D"/>
                </a:solidFill>
                <a:latin typeface="Trebuchet MS"/>
                <a:ea typeface="Trebuchet MS"/>
                <a:cs typeface="Trebuchet MS"/>
                <a:sym typeface="Trebuchet MS"/>
              </a:rPr>
              <a:t>Phase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5"/>
          <p:cNvSpPr/>
          <p:nvPr/>
        </p:nvSpPr>
        <p:spPr>
          <a:xfrm>
            <a:off x="6373368" y="132588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Intelligence Layer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5"/>
          <p:cNvSpPr/>
          <p:nvPr/>
        </p:nvSpPr>
        <p:spPr>
          <a:xfrm>
            <a:off x="6373368" y="1755648"/>
            <a:ext cx="82296" cy="82296"/>
          </a:xfrm>
          <a:prstGeom prst="ellipse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15"/>
          <p:cNvSpPr/>
          <p:nvPr/>
        </p:nvSpPr>
        <p:spPr>
          <a:xfrm>
            <a:off x="6537960" y="1719072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Strategy Builder v2 — Claude API for personalised strategy narrative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5"/>
          <p:cNvSpPr/>
          <p:nvPr/>
        </p:nvSpPr>
        <p:spPr>
          <a:xfrm>
            <a:off x="6373368" y="2066544"/>
            <a:ext cx="82296" cy="82296"/>
          </a:xfrm>
          <a:prstGeom prst="ellipse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15"/>
          <p:cNvSpPr/>
          <p:nvPr/>
        </p:nvSpPr>
        <p:spPr>
          <a:xfrm>
            <a:off x="6537960" y="2029968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Semantic search with skill-level and phase filtering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5"/>
          <p:cNvSpPr/>
          <p:nvPr/>
        </p:nvSpPr>
        <p:spPr>
          <a:xfrm>
            <a:off x="6373368" y="2377440"/>
            <a:ext cx="82296" cy="82296"/>
          </a:xfrm>
          <a:prstGeom prst="ellipse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15"/>
          <p:cNvSpPr/>
          <p:nvPr/>
        </p:nvSpPr>
        <p:spPr>
          <a:xfrm>
            <a:off x="6537960" y="2340864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Newsletter — weekly AI tool landscape updates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5"/>
          <p:cNvSpPr/>
          <p:nvPr/>
        </p:nvSpPr>
        <p:spPr>
          <a:xfrm>
            <a:off x="6373368" y="2688336"/>
            <a:ext cx="82296" cy="82296"/>
          </a:xfrm>
          <a:prstGeom prst="ellipse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15"/>
          <p:cNvSpPr/>
          <p:nvPr/>
        </p:nvSpPr>
        <p:spPr>
          <a:xfrm>
            <a:off x="6537960" y="2651760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Community contributor features — peer review, ratings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5"/>
          <p:cNvSpPr/>
          <p:nvPr/>
        </p:nvSpPr>
        <p:spPr>
          <a:xfrm>
            <a:off x="6373368" y="2999232"/>
            <a:ext cx="82296" cy="82296"/>
          </a:xfrm>
          <a:prstGeom prst="ellipse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5"/>
          <p:cNvSpPr/>
          <p:nvPr/>
        </p:nvSpPr>
        <p:spPr>
          <a:xfrm>
            <a:off x="6537960" y="2962656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Analytics dashboard — usage, most-read, drop-off by section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5"/>
          <p:cNvSpPr/>
          <p:nvPr/>
        </p:nvSpPr>
        <p:spPr>
          <a:xfrm>
            <a:off x="6373368" y="3310128"/>
            <a:ext cx="82296" cy="82296"/>
          </a:xfrm>
          <a:prstGeom prst="ellipse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5"/>
          <p:cNvSpPr/>
          <p:nvPr/>
        </p:nvSpPr>
        <p:spPr>
          <a:xfrm>
            <a:off x="6537960" y="3273552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A/B content path optimisation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5"/>
          <p:cNvSpPr/>
          <p:nvPr/>
        </p:nvSpPr>
        <p:spPr>
          <a:xfrm>
            <a:off x="6373368" y="3621024"/>
            <a:ext cx="82296" cy="82296"/>
          </a:xfrm>
          <a:prstGeom prst="ellipse">
            <a:avLst/>
          </a:prstGeom>
          <a:solidFill>
            <a:srgbClr val="FF8C3D"/>
          </a:solidFill>
          <a:ln cap="flat" cmpd="sng" w="12700">
            <a:solidFill>
              <a:srgbClr val="FF8C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15"/>
          <p:cNvSpPr/>
          <p:nvPr/>
        </p:nvSpPr>
        <p:spPr>
          <a:xfrm>
            <a:off x="6537960" y="3584448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Potential premium layer — advanced templates, courses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1A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6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1A6A">
              <a:alpha val="34901"/>
            </a:srgbClr>
          </a:solidFill>
          <a:ln cap="flat" cmpd="sng" w="12700">
            <a:solidFill>
              <a:srgbClr val="2A1A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16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E0E28"/>
          </a:solidFill>
          <a:ln cap="flat" cmpd="sng" w="12700">
            <a:solidFill>
              <a:srgbClr val="0E0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16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16"/>
          <p:cNvSpPr/>
          <p:nvPr/>
        </p:nvSpPr>
        <p:spPr>
          <a:xfrm>
            <a:off x="274320" y="6400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UXwithAIway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16"/>
          <p:cNvSpPr/>
          <p:nvPr/>
        </p:nvSpPr>
        <p:spPr>
          <a:xfrm>
            <a:off x="274320" y="123444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The practitioner-first reference for AI-augmented UX design.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6"/>
          <p:cNvSpPr/>
          <p:nvPr/>
        </p:nvSpPr>
        <p:spPr>
          <a:xfrm>
            <a:off x="274320" y="201168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12</a:t>
            </a: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 wiki sections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6"/>
          <p:cNvSpPr/>
          <p:nvPr/>
        </p:nvSpPr>
        <p:spPr>
          <a:xfrm>
            <a:off x="274320" y="223113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Full UX process covered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6"/>
          <p:cNvSpPr/>
          <p:nvPr/>
        </p:nvSpPr>
        <p:spPr>
          <a:xfrm>
            <a:off x="274320" y="251460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Strategy Builder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6"/>
          <p:cNvSpPr/>
          <p:nvPr/>
        </p:nvSpPr>
        <p:spPr>
          <a:xfrm>
            <a:off x="274320" y="273405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6-axis project matrix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6"/>
          <p:cNvSpPr/>
          <p:nvPr/>
        </p:nvSpPr>
        <p:spPr>
          <a:xfrm>
            <a:off x="274320" y="301752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50</a:t>
            </a: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+ freemium tools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6"/>
          <p:cNvSpPr/>
          <p:nvPr/>
        </p:nvSpPr>
        <p:spPr>
          <a:xfrm>
            <a:off x="274320" y="323697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No budget needed to start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6"/>
          <p:cNvSpPr/>
          <p:nvPr/>
        </p:nvSpPr>
        <p:spPr>
          <a:xfrm>
            <a:off x="274320" y="352044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3 skill levels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16"/>
          <p:cNvSpPr/>
          <p:nvPr/>
        </p:nvSpPr>
        <p:spPr>
          <a:xfrm>
            <a:off x="274320" y="373989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Junior → Senior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6"/>
          <p:cNvSpPr/>
          <p:nvPr/>
        </p:nvSpPr>
        <p:spPr>
          <a:xfrm>
            <a:off x="274320" y="40233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Free forever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6"/>
          <p:cNvSpPr/>
          <p:nvPr/>
        </p:nvSpPr>
        <p:spPr>
          <a:xfrm>
            <a:off x="274320" y="424281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Public resource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6"/>
          <p:cNvSpPr/>
          <p:nvPr/>
        </p:nvSpPr>
        <p:spPr>
          <a:xfrm>
            <a:off x="4206240" y="822960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4F4F4"/>
                </a:solidFill>
                <a:latin typeface="Trebuchet MS"/>
                <a:ea typeface="Trebuchet MS"/>
                <a:cs typeface="Trebuchet MS"/>
                <a:sym typeface="Trebuchet MS"/>
              </a:rPr>
              <a:t>Next Step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6"/>
          <p:cNvSpPr/>
          <p:nvPr/>
        </p:nvSpPr>
        <p:spPr>
          <a:xfrm>
            <a:off x="4206240" y="1298448"/>
            <a:ext cx="4572000" cy="50292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6"/>
          <p:cNvSpPr/>
          <p:nvPr/>
        </p:nvSpPr>
        <p:spPr>
          <a:xfrm>
            <a:off x="4206240" y="1298448"/>
            <a:ext cx="54864" cy="502920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16"/>
          <p:cNvSpPr/>
          <p:nvPr/>
        </p:nvSpPr>
        <p:spPr>
          <a:xfrm>
            <a:off x="4343400" y="1344168"/>
            <a:ext cx="320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6"/>
          <p:cNvSpPr/>
          <p:nvPr/>
        </p:nvSpPr>
        <p:spPr>
          <a:xfrm>
            <a:off x="4754880" y="136245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Approve MVP scope and begin Sanity CMS + Next.js setup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16"/>
          <p:cNvSpPr/>
          <p:nvPr/>
        </p:nvSpPr>
        <p:spPr>
          <a:xfrm>
            <a:off x="4206240" y="1892808"/>
            <a:ext cx="4572000" cy="50292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16"/>
          <p:cNvSpPr/>
          <p:nvPr/>
        </p:nvSpPr>
        <p:spPr>
          <a:xfrm>
            <a:off x="4206240" y="1892808"/>
            <a:ext cx="54864" cy="502920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6"/>
          <p:cNvSpPr/>
          <p:nvPr/>
        </p:nvSpPr>
        <p:spPr>
          <a:xfrm>
            <a:off x="4343400" y="1938528"/>
            <a:ext cx="320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6"/>
          <p:cNvSpPr/>
          <p:nvPr/>
        </p:nvSpPr>
        <p:spPr>
          <a:xfrm>
            <a:off x="4754880" y="195681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Commission 5 initial wiki articles (Sections 01–03)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16"/>
          <p:cNvSpPr/>
          <p:nvPr/>
        </p:nvSpPr>
        <p:spPr>
          <a:xfrm>
            <a:off x="4206240" y="2487168"/>
            <a:ext cx="4572000" cy="50292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6"/>
          <p:cNvSpPr/>
          <p:nvPr/>
        </p:nvSpPr>
        <p:spPr>
          <a:xfrm>
            <a:off x="4206240" y="2487168"/>
            <a:ext cx="54864" cy="502920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6"/>
          <p:cNvSpPr/>
          <p:nvPr/>
        </p:nvSpPr>
        <p:spPr>
          <a:xfrm>
            <a:off x="4343400" y="2532888"/>
            <a:ext cx="320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6"/>
          <p:cNvSpPr/>
          <p:nvPr/>
        </p:nvSpPr>
        <p:spPr>
          <a:xfrm>
            <a:off x="4754880" y="255117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Build Strategy Builder v1 — decision tree logic + output UI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16"/>
          <p:cNvSpPr/>
          <p:nvPr/>
        </p:nvSpPr>
        <p:spPr>
          <a:xfrm>
            <a:off x="4206240" y="3081528"/>
            <a:ext cx="4572000" cy="50292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16"/>
          <p:cNvSpPr/>
          <p:nvPr/>
        </p:nvSpPr>
        <p:spPr>
          <a:xfrm>
            <a:off x="4206240" y="3081528"/>
            <a:ext cx="54864" cy="502920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6"/>
          <p:cNvSpPr/>
          <p:nvPr/>
        </p:nvSpPr>
        <p:spPr>
          <a:xfrm>
            <a:off x="4343400" y="3127248"/>
            <a:ext cx="320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16"/>
          <p:cNvSpPr/>
          <p:nvPr/>
        </p:nvSpPr>
        <p:spPr>
          <a:xfrm>
            <a:off x="4754880" y="314553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Onboard 3 invite-only contributor-authors for Phase 1 content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16"/>
          <p:cNvSpPr/>
          <p:nvPr/>
        </p:nvSpPr>
        <p:spPr>
          <a:xfrm>
            <a:off x="4206240" y="3675888"/>
            <a:ext cx="4572000" cy="50292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6"/>
          <p:cNvSpPr/>
          <p:nvPr/>
        </p:nvSpPr>
        <p:spPr>
          <a:xfrm>
            <a:off x="4206240" y="3675888"/>
            <a:ext cx="54864" cy="502920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6"/>
          <p:cNvSpPr/>
          <p:nvPr/>
        </p:nvSpPr>
        <p:spPr>
          <a:xfrm>
            <a:off x="4343400" y="3721608"/>
            <a:ext cx="320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6"/>
          <p:cNvSpPr/>
          <p:nvPr/>
        </p:nvSpPr>
        <p:spPr>
          <a:xfrm>
            <a:off x="4754880" y="373989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Define editorial voice and contributor style guide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6"/>
          <p:cNvSpPr/>
          <p:nvPr/>
        </p:nvSpPr>
        <p:spPr>
          <a:xfrm>
            <a:off x="4206240" y="4270248"/>
            <a:ext cx="4572000" cy="502920"/>
          </a:xfrm>
          <a:prstGeom prst="rect">
            <a:avLst/>
          </a:prstGeom>
          <a:solidFill>
            <a:srgbClr val="16163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6"/>
          <p:cNvSpPr/>
          <p:nvPr/>
        </p:nvSpPr>
        <p:spPr>
          <a:xfrm>
            <a:off x="4206240" y="4270248"/>
            <a:ext cx="54864" cy="502920"/>
          </a:xfrm>
          <a:prstGeom prst="rect">
            <a:avLst/>
          </a:prstGeom>
          <a:solidFill>
            <a:srgbClr val="E4FF47"/>
          </a:solidFill>
          <a:ln cap="flat" cmpd="sng" w="12700">
            <a:solidFill>
              <a:srgbClr val="E4FF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6"/>
          <p:cNvSpPr/>
          <p:nvPr/>
        </p:nvSpPr>
        <p:spPr>
          <a:xfrm>
            <a:off x="4343400" y="4315968"/>
            <a:ext cx="320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F4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E4FF47"/>
                </a:solidFill>
                <a:latin typeface="Trebuchet MS"/>
                <a:ea typeface="Trebuchet MS"/>
                <a:cs typeface="Trebuchet MS"/>
                <a:sym typeface="Trebuchet MS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16"/>
          <p:cNvSpPr/>
          <p:nvPr/>
        </p:nvSpPr>
        <p:spPr>
          <a:xfrm>
            <a:off x="4754880" y="433425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88AA"/>
                </a:solidFill>
                <a:latin typeface="Calibri"/>
                <a:ea typeface="Calibri"/>
                <a:cs typeface="Calibri"/>
                <a:sym typeface="Calibri"/>
              </a:rPr>
              <a:t>Launch with Tool Directory (20 tools) + 2 sections complete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1112A"/>
          </a:solidFill>
          <a:ln cap="flat" cmpd="sng" w="12700">
            <a:solidFill>
              <a:srgbClr val="2A2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6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66"/>
                </a:solidFill>
                <a:latin typeface="Calibri"/>
                <a:ea typeface="Calibri"/>
                <a:cs typeface="Calibri"/>
                <a:sym typeface="Calibri"/>
              </a:rPr>
              <a:t>UXwiththeAIway  •  Free Public Resource  •  Invite-Only Contributors  •  Practitioner-First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2026-03-22T04:32:49Z</dcterms:created>
  <dc:creator>UX Strategy</dc:creator>
</cp:coreProperties>
</file>